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Twaa is a hyperlocal quick-commerce platform. Launch market: Abu El Matamir city and its villages, Beheira. This deck covers the project and the delivery plan to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phase is complete. Engineering build and operational setup start in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BRD sections 1-3 and 92: the strategic position is the fastest and easiest local way to get what you need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Single-store fulfilment per order in MVP; no basket splitting.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nav follows noon order: Home, Categories, Deals, Account, Cart. Deals and Local are also verticals.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are a proposal to be confirmed with the engineering vendor or in-house team. A zone launches only when the readiness checklist passes (BRD §89).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926080" cy="19476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0175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9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 quick commerce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9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Abu El Matamir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480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97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delivery plan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هنا لك.. توّا   ·   September 2026   ·   Based on BRD v1.1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74152" y="621792"/>
            <a:ext cx="2663201" cy="5614416"/>
          </a:xfrm>
          <a:prstGeom prst="roundRect">
            <a:avLst>
              <a:gd name="adj" fmla="val 9614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1" descr="/tmp/claude-0/-home-user-abbas/808b03aa-7106-5128-a09d-1b5a67236f36/scratchpad/resp/v15-phone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685800"/>
            <a:ext cx="2535185" cy="5486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8952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prototype · 26 screens · Arabic-first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and what it takes to launch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583680" cy="2148840"/>
          </a:xfrm>
          <a:prstGeom prst="roundRect">
            <a:avLst>
              <a:gd name="adj" fmla="val 5106"/>
            </a:avLst>
          </a:prstGeom>
          <a:solidFill>
            <a:srgbClr val="EFE5F0"/>
          </a:solidFill>
          <a:ln w="12700">
            <a:solidFill>
              <a:srgbClr val="EF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everyday digital convenience store for Egypt's secondary cities and villages.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Supermarket, hot food and pharmacy in 20–60 minutes, cash or digital.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coverage where national players are weak: one city, nine villages, one dark store.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local products, village addressing, Egyptian-Arabic UX, instant returns.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5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20–60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delivery per zone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5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in the first service area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5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72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verticals: supermarket, food, pharmacy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5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6172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 designed &amp; prototyped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144975" cy="4526280"/>
          </a:xfrm>
          <a:prstGeom prst="roundRect">
            <a:avLst>
              <a:gd name="adj" fmla="val 2647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today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1838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v1.1 complete (94 sections)</a:t>
            </a:r>
            <a:endParaRPr lang="en-US" sz="12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1635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183880" y="2816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and logo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34670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183880" y="33467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designed: 26 screens, responsive, AR/EN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87705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83880" y="38770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and engineering handoff notes</a:t>
            </a:r>
            <a:endParaRPr lang="en-US" sz="12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4074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83880" y="4407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admin, picker and rider apps: to build</a:t>
            </a:r>
            <a:endParaRPr lang="en-US" sz="12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493776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18388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stock, riders and payments: to set up</a:t>
            </a:r>
            <a:endParaRPr lang="en-US" sz="12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5468112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183880" y="5468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pilot January 2027, public launch February 2027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now, why 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cities and villages are under-served by national quick-commerce players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3A1F3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apps concentrate on Cairo and Alexandria. Abu El Matamir and its villages have weak or no on-demand delivery.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3A1F3D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920240"/>
            <a:ext cx="731520" cy="73152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need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291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bread, water, diapers, medicine: bought several times a week, often urgently. Frequency is the engine of quick commerce.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sx="100000" sy="100000" kx="0" ky="0" algn="bl" rotWithShape="0" blurRad="76200" dist="25400" dir="5400000">
              <a:srgbClr val="3A1F3D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92024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03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advantage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291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dairy, bakeries and produce that national assortments miss, plus village addressing that maps and couriers get wrong.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EFE5F0"/>
          </a:solidFill>
          <a:ln w="12700">
            <a:solidFill>
              <a:srgbClr val="EFE5F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customer behaviour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محتاج حاجة؟ هاتها توّا.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5257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 something? Get it now." Twaa becomes the default whenever a household needs an essential, fast.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Twaa wins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grocery app: the fastest, easiest local way to get what you need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speed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ETAs customers can trust; capacity controls so promises hold.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874520"/>
            <a:ext cx="640080" cy="64008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0345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coverage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+ draggable pin + village picker; polygons per village with their own fee and minimum.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1874520"/>
            <a:ext cx="640080" cy="64008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0345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products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milk, baladi bread, local honey and produce alongside national brands.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3205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Egyptian-Arabic UX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Colloquial copy, RTL-native, works on cheap Android and weak networks.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97680" y="3931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26280" y="4160520"/>
            <a:ext cx="640080" cy="64008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43205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returns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wrong or damaged: refund to wallet immediately, 24-hour policy.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75320" y="4160520"/>
            <a:ext cx="640080" cy="64008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43205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5256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that pays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 توّا on every order, tiers, challenges, referral, later توّا+.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quick-commerce retailer: we own the stock, the picking and the delivery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03120" cy="914400"/>
          </a:xfrm>
          <a:prstGeom prst="chevron">
            <a:avLst/>
          </a:prstGeom>
          <a:solidFill>
            <a:srgbClr val="3A1F3D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88920" y="1737360"/>
            <a:ext cx="2103120" cy="914400"/>
          </a:xfrm>
          <a:prstGeom prst="chevron">
            <a:avLst/>
          </a:prstGeom>
          <a:solidFill>
            <a:srgbClr val="3A1F3D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71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 store / dark store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0" y="1737360"/>
            <a:ext cx="2103120" cy="914400"/>
          </a:xfrm>
          <a:prstGeom prst="chevron">
            <a:avLst/>
          </a:prstGeom>
          <a:solidFill>
            <a:srgbClr val="3A1F3D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659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20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269480" y="1737360"/>
            <a:ext cx="2103120" cy="914400"/>
          </a:xfrm>
          <a:prstGeom prst="chevron">
            <a:avLst/>
          </a:prstGeom>
          <a:solidFill>
            <a:srgbClr val="3A1F3D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96596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523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509760" y="1737360"/>
            <a:ext cx="2103120" cy="914400"/>
          </a:xfrm>
          <a:prstGeom prst="chevron">
            <a:avLst/>
          </a:prstGeom>
          <a:solidFill>
            <a:srgbClr val="F9732F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96596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926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69080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0584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margin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937760" y="4059936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DFF3E6"/>
          </a:solidFill>
          <a:ln w="12700">
            <a:solidFill>
              <a:srgbClr val="DFF3E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4937760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1772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584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service fees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4937760" y="4608576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DFF3E6"/>
          </a:solidFill>
          <a:ln w="12700">
            <a:solidFill>
              <a:srgbClr val="DFF3E6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4937760" y="46451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166360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0584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Supplier-funded promotions &amp; placement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4937760" y="5157216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FEE7DA"/>
          </a:solidFill>
          <a:ln w="12700">
            <a:solidFill>
              <a:srgbClr val="FEE7DA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4937760" y="5193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715000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05840" y="5669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Twaa+ subscription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4937760" y="5705856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EFE5F0"/>
          </a:solidFill>
          <a:ln w="12700">
            <a:solidFill>
              <a:srgbClr val="EFE5F0"/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4937760" y="57424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6583680" y="3566160"/>
            <a:ext cx="5059375" cy="2651760"/>
          </a:xfrm>
          <a:prstGeom prst="roundRect">
            <a:avLst>
              <a:gd name="adj" fmla="val 4138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68580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per order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6858000" y="42062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 −  COGS  =  Gross profit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picking · packaging · delivery · payment · promotion · refunds · shrinkage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97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Contribution margin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6858000" y="5440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order, zone, customer, category and store (BRD §55). Promotions are approved against this number, not GMV.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segments in the launch market, one app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965960"/>
            <a:ext cx="731520" cy="73152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groceries, cleaning, baby products, beverages. Biggest basket.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98064" y="16916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83864" y="1965960"/>
            <a:ext cx="731520" cy="73152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5224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80944" y="3291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Snacks, drinks, frozen, personal care, hot meals. Highest frequency.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47488" y="16916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33288" y="1965960"/>
            <a:ext cx="731520" cy="73152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84648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buyers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30368" y="3291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bread, diapers, water, medicine: needed now, price-insensitive.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296912" y="16916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82712" y="1965960"/>
            <a:ext cx="731520" cy="73152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21488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2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customers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479792" y="3291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city centre where national delivery does not reach.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546336" y="16916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10232136" y="1965960"/>
            <a:ext cx="731520" cy="731520"/>
          </a:xfrm>
          <a:prstGeom prst="ellipse">
            <a:avLst/>
          </a:prstGeom>
          <a:solidFill>
            <a:srgbClr val="7E6F80"/>
          </a:solidFill>
          <a:ln w="12700">
            <a:solidFill>
              <a:srgbClr val="7E6F8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21488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83496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9729216" y="3291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Offices, cafés, salons, workshops. Phase 2 B2B ordering.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FE5F0"/>
          </a:solidFill>
          <a:ln w="12700">
            <a:solidFill>
              <a:srgbClr val="EFE5F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54406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designed:  first order in ~6 taps after OTP  ·  returning customer reorders in under a minute  ·  village customer sees the right ETA, fee and minimum the moment the pin lands.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service area: Abu El Matamir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dark store, nine zones with their own ETA, fee and minimum basket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7512" y="1536192"/>
            <a:ext cx="2198417" cy="4608576"/>
          </a:xfrm>
          <a:prstGeom prst="roundRect">
            <a:avLst>
              <a:gd name="adj" fmla="val 11646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tmp/claude-0/-home-user-abbas/808b03aa-7106-5128-a09d-1b5a67236f36/scratchpad/shots/v2-ar-location-g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070401" cy="44805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  <a:gridCol w="1097280"/>
                <a:gridCol w="16459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وسط المدينة · City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شارع الجيش والمحطة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أبو الشقاف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زاوية صقر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الطيرية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الحدين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بولين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الوفائية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soon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كوم البركة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soon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383280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minimums in EGP. Prototype uses approximate centroids and radii; production uses surveyed delivery polygons managed in the admin (BRD §6–7). Unsupported pins capture demand instead of blocking: "لسه موصلناش عندك، بس جايين توّا."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location: device GPS, draggable map with a fixed pin, instant zone detection.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platform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systems, one operating company (BRD §9, §94)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EFE5F0"/>
          </a:solidFill>
          <a:ln w="12700">
            <a:solidFill>
              <a:srgbClr val="EF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mobile app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1645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EFE5F0"/>
          </a:solidFill>
          <a:ln w="12700">
            <a:solidFill>
              <a:srgbClr val="EFE5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728" y="1828800"/>
            <a:ext cx="548640" cy="54864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24528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 app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224528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63056" y="1645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182880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659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31736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031736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70264" y="1645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53144" y="182880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965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38944" y="18470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portal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838944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290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4173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355848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38728" y="329184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342900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224528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Picker app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4224528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163056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45936" y="329184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342900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031736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app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7031736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970264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153144" y="329184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3429000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838944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platform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9838944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548640" y="45720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892040"/>
            <a:ext cx="274320" cy="27432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417320" y="47731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console</a:t>
            </a:r>
            <a:endParaRPr lang="en-US" sz="1250" dirty="0"/>
          </a:p>
        </p:txBody>
      </p:sp>
      <p:sp>
        <p:nvSpPr>
          <p:cNvPr id="49" name="Text 38"/>
          <p:cNvSpPr txBox="1"/>
          <p:nvPr/>
        </p:nvSpPr>
        <p:spPr>
          <a:xfrm>
            <a:off x="141732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3355848" y="45720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3538728" y="475488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5888" y="4892040"/>
            <a:ext cx="274320" cy="27432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4224528" y="47731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&amp; CRM engine</a:t>
            </a:r>
            <a:endParaRPr lang="en-US" sz="1250" dirty="0"/>
          </a:p>
        </p:txBody>
      </p:sp>
      <p:sp>
        <p:nvSpPr>
          <p:cNvPr id="54" name="Text 42"/>
          <p:cNvSpPr txBox="1"/>
          <p:nvPr/>
        </p:nvSpPr>
        <p:spPr>
          <a:xfrm>
            <a:off x="4224528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55" name="Shape 43"/>
          <p:cNvSpPr/>
          <p:nvPr/>
        </p:nvSpPr>
        <p:spPr>
          <a:xfrm>
            <a:off x="6163056" y="45720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6345936" y="475488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3096" y="4892040"/>
            <a:ext cx="274320" cy="27432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7031736" y="47731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&amp; wallet</a:t>
            </a:r>
            <a:endParaRPr lang="en-US" sz="1250" dirty="0"/>
          </a:p>
        </p:txBody>
      </p:sp>
      <p:sp>
        <p:nvSpPr>
          <p:cNvPr id="59" name="Text 46"/>
          <p:cNvSpPr txBox="1"/>
          <p:nvPr/>
        </p:nvSpPr>
        <p:spPr>
          <a:xfrm>
            <a:off x="7031736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60" name="Shape 47"/>
          <p:cNvSpPr/>
          <p:nvPr/>
        </p:nvSpPr>
        <p:spPr>
          <a:xfrm>
            <a:off x="8970264" y="45720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9153144" y="4754880"/>
            <a:ext cx="548640" cy="54864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0304" y="4892040"/>
            <a:ext cx="274320" cy="274320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838944" y="47731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</a:t>
            </a:r>
            <a:endParaRPr lang="en-US" sz="1250" dirty="0"/>
          </a:p>
        </p:txBody>
      </p:sp>
      <p:sp>
        <p:nvSpPr>
          <p:cNvPr id="64" name="Text 50"/>
          <p:cNvSpPr txBox="1"/>
          <p:nvPr/>
        </p:nvSpPr>
        <p:spPr>
          <a:xfrm>
            <a:off x="9838944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50" dirty="0"/>
          </a:p>
        </p:txBody>
      </p:sp>
      <p:sp>
        <p:nvSpPr>
          <p:cNvPr id="65" name="Text 51"/>
          <p:cNvSpPr txBox="1"/>
          <p:nvPr/>
        </p:nvSpPr>
        <p:spPr>
          <a:xfrm>
            <a:off x="548640" y="6080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surfaces are designed and prototyped. The nine operational systems are the engineering scope of the MVP build.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app: three verticals, one basket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like noon: a strip of verticals on top, each with its own home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" y="1536192"/>
            <a:ext cx="1902645" cy="3968496"/>
          </a:xfrm>
          <a:prstGeom prst="roundRect">
            <a:avLst>
              <a:gd name="adj" fmla="val 13457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tmp/claude-0/-home-user-abbas/808b03aa-7106-5128-a09d-1b5a67236f36/scratchpad/resp/v15-phon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1774629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5532120"/>
            <a:ext cx="26890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Supermarket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28600" y="5833872"/>
            <a:ext cx="3054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headline, promo tiles, reorder, circular categories, + on every product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99432" y="1536192"/>
            <a:ext cx="1902645" cy="3968496"/>
          </a:xfrm>
          <a:prstGeom prst="roundRect">
            <a:avLst>
              <a:gd name="adj" fmla="val 13457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/tmp/claude-0/-home-user-abbas/808b03aa-7106-5128-a09d-1b5a67236f36/scratchpad/resp/v14-phone-f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0200"/>
            <a:ext cx="1774629" cy="3840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5532120"/>
            <a:ext cx="26890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(أكل)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5833872"/>
            <a:ext cx="3054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 kitchen and local kitchens: promo cards, quick tiles, image cards with prep time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394192" y="1536192"/>
            <a:ext cx="1902645" cy="3968496"/>
          </a:xfrm>
          <a:prstGeom prst="roundRect">
            <a:avLst>
              <a:gd name="adj" fmla="val 13457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/tmp/claude-0/-home-user-abbas/808b03aa-7106-5128-a09d-1b5a67236f36/scratchpad/resp/v14-phone-pharma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00200"/>
            <a:ext cx="1774629" cy="3840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001000" y="5532120"/>
            <a:ext cx="26890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(صيدلية)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818120" y="5833872"/>
            <a:ext cx="3054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only, pharmacist review, ask-a-pharmacist, prescription upload coming soon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trust: track, pay, return, earn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that make customers come back, modelled on noon and Amazon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21792" y="1536192"/>
            <a:ext cx="1564621" cy="3236976"/>
          </a:xfrm>
          <a:prstGeom prst="roundRect">
            <a:avLst>
              <a:gd name="adj" fmla="val 16364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tmp/claude-0/-home-user-abbas/808b03aa-7106-5128-a09d-1b5a67236f36/scratchpad/resp/v15-phone-tr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436605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59565" y="1600200"/>
            <a:ext cx="457200" cy="45720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865" y="17145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4846320"/>
            <a:ext cx="25338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166360"/>
            <a:ext cx="2533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rider distance, delivery code, handover choice, cash-change reminder, proof of delivery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56432" y="1536192"/>
            <a:ext cx="1564621" cy="3236976"/>
          </a:xfrm>
          <a:prstGeom prst="roundRect">
            <a:avLst>
              <a:gd name="adj" fmla="val 16364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/tmp/claude-0/-home-user-abbas/808b03aa-7106-5128-a09d-1b5a67236f36/scratchpad/resp/v15-phone-check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600200"/>
            <a:ext cx="1436605" cy="31089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094205" y="1600200"/>
            <a:ext cx="457200" cy="45720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505" y="17145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337560" y="4846320"/>
            <a:ext cx="25338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3337560" y="5166360"/>
            <a:ext cx="2533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toggle, cash with change selector, saved cards, mobile wallets, secure badge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291072" y="1536192"/>
            <a:ext cx="1564621" cy="3236976"/>
          </a:xfrm>
          <a:prstGeom prst="roundRect">
            <a:avLst>
              <a:gd name="adj" fmla="val 16364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/tmp/claude-0/-home-user-abbas/808b03aa-7106-5128-a09d-1b5a67236f36/scratchpad/resp/v15-phone-returns-d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00200"/>
            <a:ext cx="1436605" cy="31089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928845" y="1600200"/>
            <a:ext cx="457200" cy="45720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145" y="171450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172200" y="4846320"/>
            <a:ext cx="25338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&amp; refunds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6172200" y="5166360"/>
            <a:ext cx="2533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wizard by item and reason; instant wallet refund with a status tracker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9125712" y="1536192"/>
            <a:ext cx="1564621" cy="3236976"/>
          </a:xfrm>
          <a:prstGeom prst="roundRect">
            <a:avLst>
              <a:gd name="adj" fmla="val 16364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24" name="Image 6" descr="/tmp/claude-0/-home-user-abbas/808b03aa-7106-5128-a09d-1b5a67236f36/scratchpad/resp/v15-phone-loyal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1600200"/>
            <a:ext cx="1436605" cy="31089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10763485" y="1600200"/>
            <a:ext cx="457200" cy="45720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7785" y="171450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006840" y="4846320"/>
            <a:ext cx="25338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 توّا</a:t>
            </a:r>
            <a:endParaRPr lang="en-US" sz="1350" dirty="0"/>
          </a:p>
        </p:txBody>
      </p:sp>
      <p:sp>
        <p:nvSpPr>
          <p:cNvPr id="28" name="Text 18"/>
          <p:cNvSpPr txBox="1"/>
          <p:nvPr/>
        </p:nvSpPr>
        <p:spPr>
          <a:xfrm>
            <a:off x="9006840" y="5166360"/>
            <a:ext cx="2533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tiers, rewards, weekly challenges, referral, Twaa+ teaser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design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derives from one token set, ready to port to the mobile theme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377440" cy="1581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83280" y="160020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93008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Aubergine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2468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#3A1F3D · structure, prices, nav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F9F2E7"/>
          </a:solidFill>
          <a:ln w="12700">
            <a:solidFill>
              <a:srgbClr val="EA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38928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38928" y="2468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#F9F2E7 · page background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75120" y="160020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84848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2468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#F9732F · one action per screen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21040" y="160020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B4441E"/>
          </a:solidFill>
          <a:ln w="12700">
            <a:solidFill>
              <a:srgbClr val="B444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0768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30768" y="2468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#B4441E · vertical tint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966960" y="160020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76688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76688" y="2468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#0F7C8C · vertical tint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7947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Baloo Bhaijaan 2 (rounded, echoes the logo) for headings, prices, buttons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Cairo, Arabic and Latin in one voice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numerals for prices, timers and codes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15–16px, nothing under 11px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37947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first, RTL native; English is a direction flip, not a second layout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Mandarin action per screen, always in the bottom bar with the total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status stated in words, never colour alone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44px targets, reserved image space, motion under 320ms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in repo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37947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index.html: interactive prototype, 26 screens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design-system.html: tokens and components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DESIGN.md: screen-by-screen guideline mapped to BRD sections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Container-query responsive: phone, tablet, desktop web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every screen size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a phone, adapts on tablets, becomes a web layout with a side rail on desktop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pic>
        <p:nvPicPr>
          <p:cNvPr id="5" name="Image 0" descr="/tmp/claude-0/-home-user-abbas/808b03aa-7106-5128-a09d-1b5a67236f36/scratchpad/resp/v15-desktop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4572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439912" y="1536192"/>
            <a:ext cx="1480115" cy="3054096"/>
          </a:xfrm>
          <a:prstGeom prst="roundRect">
            <a:avLst>
              <a:gd name="adj" fmla="val 17298"/>
            </a:avLst>
          </a:prstGeom>
          <a:solidFill>
            <a:srgbClr val="1B1120"/>
          </a:solidFill>
          <a:ln w="12700">
            <a:solidFill>
              <a:srgbClr val="1B112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1" descr="/tmp/claude-0/-home-user-abbas/808b03aa-7106-5128-a09d-1b5a67236f36/scratchpad/resp/v14-phone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00200"/>
            <a:ext cx="1352099" cy="2926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38160" y="48920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full-screen, safe-area aware, installable as a PWA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Tablet: centred column, auto-fill grids, 2-up banners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side rail, two-column cart and checkout, map beside details, product modal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exist before the first zone launches (BRD §83)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login, live location, saved addresses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verticals, categories, search, product pages, quick add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promo codes, checkout, COD + digital payment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order history, reorder, favourites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refunds, wallet, notifications, support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84448" y="1874520"/>
            <a:ext cx="548640" cy="54864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011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24528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operations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260604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products, categories, pricing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per location with reservations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customers, promotions, refunds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delivery zones, riders, pickers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users, roles, audit log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63056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91656" y="1874520"/>
            <a:ext cx="548640" cy="54864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011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31736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Fulfilment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260604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queue and acceptance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picking with shelf locations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 per customer preference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and handover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KPIs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70264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98864" y="1874520"/>
            <a:ext cx="548640" cy="548640"/>
          </a:xfrm>
          <a:prstGeom prst="ellipse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011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38944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198864" y="260604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online/offline status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navigation, customer contact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and delivery code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collection and cash balance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delivery, problem reporting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1722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MVP: marketplace sellers, restaurant marketplace, prescription delivery, multi-store basket splitting, advanced AI forecasting (BRD §86).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focused, then deepen, then expand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– Q1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Supermarket, food and pharmacy in Abu El Matamir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COD, cards, mobile wallets, Twaa wallet refunds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tracking, returns, basic points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semi-automatic dispatch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1,500–3,000 SKUs from one dark store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87452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– Q3 2027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603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delivery, Twaa+ subscription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loyalty (tiers, challenges), referral programme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dispatch and ETA model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Personalisation: مخصوص ليك, ممكن تحتاج معاهم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portal, B2B ordering, advanced CRM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5603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Beheira markazes and governorates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dark stores, dynamic fulfilment allocation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label, sponsored placement, ads platform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sellers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and auto-replenishment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plan: design to launch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7-month plan, October 2026 to April 2027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0" y="1600200"/>
            <a:ext cx="998182" cy="365760"/>
          </a:xfrm>
          <a:prstGeom prst="rect">
            <a:avLst/>
          </a:prstGeom>
          <a:solidFill>
            <a:srgbClr val="EFE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55782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55782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53964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53964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52146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2146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50328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50328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48510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8510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691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46691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44873" y="1600200"/>
            <a:ext cx="998182" cy="365760"/>
          </a:xfrm>
          <a:prstGeom prst="rect">
            <a:avLst/>
          </a:prstGeom>
          <a:solidFill>
            <a:srgbClr val="F9F2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44873" y="1673352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093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BRD, brand &amp; app design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94176" y="2112264"/>
            <a:ext cx="925030" cy="219456"/>
          </a:xfrm>
          <a:prstGeom prst="roundRect">
            <a:avLst>
              <a:gd name="adj" fmla="val 41667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0752" y="2130552"/>
            <a:ext cx="998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395728"/>
            <a:ext cx="1109441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admin &amp; inventory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92358" y="2450592"/>
            <a:ext cx="2921394" cy="219456"/>
          </a:xfrm>
          <a:prstGeom prst="roundRect">
            <a:avLst>
              <a:gd name="adj" fmla="val 41667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734056"/>
            <a:ext cx="11094415" cy="310896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(iOS, Android, web)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92358" y="2788920"/>
            <a:ext cx="2921394" cy="219456"/>
          </a:xfrm>
          <a:prstGeom prst="roundRect">
            <a:avLst>
              <a:gd name="adj" fmla="val 41667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072384"/>
            <a:ext cx="1109441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&amp; rider apps, dispatch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90540" y="3127248"/>
            <a:ext cx="1923212" cy="219456"/>
          </a:xfrm>
          <a:prstGeom prst="roundRect">
            <a:avLst>
              <a:gd name="adj" fmla="val 41667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410712"/>
            <a:ext cx="11094415" cy="310896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payments, SMS, maps, WhatsApp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90540" y="3465576"/>
            <a:ext cx="1923212" cy="219456"/>
          </a:xfrm>
          <a:prstGeom prst="roundRect">
            <a:avLst>
              <a:gd name="adj" fmla="val 41667"/>
            </a:avLst>
          </a:prstGeom>
          <a:solidFill>
            <a:srgbClr val="4E2C52"/>
          </a:solidFill>
          <a:ln w="12700">
            <a:solidFill>
              <a:srgbClr val="4E2C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749040"/>
            <a:ext cx="1109441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436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setup, assortment, suppliers, hiring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90540" y="3803904"/>
            <a:ext cx="2921394" cy="219456"/>
          </a:xfrm>
          <a:prstGeom prst="roundRect">
            <a:avLst>
              <a:gd name="adj" fmla="val 41667"/>
            </a:avLst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087368"/>
            <a:ext cx="11094415" cy="310896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RTL, payments &amp; real-store testing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88722" y="4142232"/>
            <a:ext cx="1923212" cy="219456"/>
          </a:xfrm>
          <a:prstGeom prst="roundRect">
            <a:avLst>
              <a:gd name="adj" fmla="val 41667"/>
            </a:avLst>
          </a:prstGeom>
          <a:solidFill>
            <a:srgbClr val="E05F1C"/>
          </a:solidFill>
          <a:ln w="12700">
            <a:solidFill>
              <a:srgbClr val="E05F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425696"/>
            <a:ext cx="1109441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city centre, friendly users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86904" y="4480560"/>
            <a:ext cx="925030" cy="219456"/>
          </a:xfrm>
          <a:prstGeom prst="roundRect">
            <a:avLst>
              <a:gd name="adj" fmla="val 41667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764024"/>
            <a:ext cx="11094415" cy="310896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launch: Abu El Matamir city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685086" y="4818888"/>
            <a:ext cx="925030" cy="219456"/>
          </a:xfrm>
          <a:prstGeom prst="roundRect">
            <a:avLst>
              <a:gd name="adj" fmla="val 41667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5102352"/>
            <a:ext cx="1109441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4360" y="5138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rollout, zone by zone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83267" y="5157216"/>
            <a:ext cx="1923212" cy="219456"/>
          </a:xfrm>
          <a:prstGeom prst="roundRect">
            <a:avLst>
              <a:gd name="adj" fmla="val 41667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5440680"/>
            <a:ext cx="11094415" cy="310896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4360" y="54772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features start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683267" y="5495544"/>
            <a:ext cx="1923212" cy="219456"/>
          </a:xfrm>
          <a:prstGeom prst="roundRect">
            <a:avLst>
              <a:gd name="adj" fmla="val 41667"/>
            </a:avLst>
          </a:prstGeom>
          <a:solidFill>
            <a:srgbClr val="B8BCC6"/>
          </a:solidFill>
          <a:ln w="12700">
            <a:solidFill>
              <a:srgbClr val="B8BCC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64342" y="5888736"/>
            <a:ext cx="182880" cy="182880"/>
          </a:xfrm>
          <a:prstGeom prst="diamond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015702" y="6108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sign-off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58888" y="5888736"/>
            <a:ext cx="182880" cy="182880"/>
          </a:xfrm>
          <a:prstGeom prst="diamond">
            <a:avLst/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010248" y="6108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656888" y="5888736"/>
            <a:ext cx="182880" cy="182880"/>
          </a:xfrm>
          <a:prstGeom prst="diamond">
            <a:avLst/>
          </a:prstGeom>
          <a:solidFill>
            <a:srgbClr val="E05F1C"/>
          </a:solidFill>
          <a:ln w="12700">
            <a:solidFill>
              <a:srgbClr val="E05F1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08248" y="6309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1551615" y="5888736"/>
            <a:ext cx="182880" cy="182880"/>
          </a:xfrm>
          <a:prstGeom prst="diamond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362895" y="6108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villages live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5861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and team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through launch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5394960"/>
                <a:gridCol w="8503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lead + designer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Backlog, admin/picker/rider designs, acceptance tests, copy deck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Engineering: backend &amp;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 + 3 devs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APIs, inventory, orders, promotions, roles, audit,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Engineering: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mobile devs + 1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app iOS/Android/web, picker and rider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QA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Functional, RTL, payments, maps, load, security, real-store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manager + store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store, shelving, receiving, picking SLA, cash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&amp; assortment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1,500–3,000 launch SKUs, local suppliers, pricing, safety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 hiring and training, zones, capacity, COD 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riders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campaign, first-order offer, referral, notifications,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&amp;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+ 2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gateway, reconciliation, refunds policy, support console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 team of about 10 plus operations staff. Engineering can be in-house or a vendor; either way the BRD and the prototype are the contract.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success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targets for the pilot, validated before expansion (BRD §54, §91)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9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repeat orders per active customer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do not count. Reliable, repeated deliveries do.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Picking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delivery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Outer-zone delivery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45–75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&gt;4.5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metrics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891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0120" y="43708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repeat rate, DAU/MAU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0120" y="4736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Orders/day, AOV, items/order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064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0120" y="5102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dispatch, delivery times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0120" y="5468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and contribution margin, promo cost/order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85216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5833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rate, substitution rate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how we contain them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BRD §90, with the design and plan decisions that address each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C63A3A"/>
          </a:solidFill>
          <a:ln w="12700">
            <a:solidFill>
              <a:srgbClr val="C63A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1972818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901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order density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6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orders per zone makes delivery uneconomical.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zone by zone from the city centre; a zone goes live only when riders and stock are ready.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C63A3A"/>
          </a:solidFill>
          <a:ln w="12700">
            <a:solidFill>
              <a:srgbClr val="C63A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78" y="197281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20640" y="1901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inaccuracy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498848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6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what is not on the shelf.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98848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on confirmation, cycle counts, substitution preference captured in the cart.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672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C63A3A"/>
          </a:solidFill>
          <a:ln w="12700">
            <a:solidFill>
              <a:srgbClr val="C63A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618" y="197281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69680" y="1901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delay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47888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6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ETAs destroy trust fast.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47888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ETAs, capacity caps, live tracking so customers always know where the order is.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C63A3A"/>
          </a:solidFill>
          <a:ln w="12700">
            <a:solidFill>
              <a:srgbClr val="C63A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" y="421309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142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overspend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6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lift GMV and kill margin.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promotion reported against contribution margin; caps on usage and value.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9768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498848" y="4087368"/>
            <a:ext cx="502920" cy="502920"/>
          </a:xfrm>
          <a:prstGeom prst="ellipse">
            <a:avLst/>
          </a:prstGeom>
          <a:solidFill>
            <a:srgbClr val="C63A3A"/>
          </a:solidFill>
          <a:ln w="12700">
            <a:solidFill>
              <a:srgbClr val="C63A3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578" y="4213098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0640" y="4142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inventory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4498848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6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SKUs tie up cash and expire.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498848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1,500–3,000 SKU launch range weighted to high-frequency essentials.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4672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9F2E7"/>
          </a:solidFill>
          <a:ln w="12700">
            <a:solidFill>
              <a:srgbClr val="F9F2E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247888" y="4087368"/>
            <a:ext cx="502920" cy="502920"/>
          </a:xfrm>
          <a:prstGeom prst="ellipse">
            <a:avLst/>
          </a:prstGeom>
          <a:solidFill>
            <a:srgbClr val="C63A3A"/>
          </a:solidFill>
          <a:ln w="12700">
            <a:solidFill>
              <a:srgbClr val="C63A3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3618" y="4213098"/>
            <a:ext cx="251460" cy="25146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869680" y="4142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leakage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247888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6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collection without reconciliation.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8247888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cash balance, deposit tracking and variance reports from day one; wallet nudges digital payment.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readiness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zone opens only when every box is ticked (BRD §89)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6510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توّا · Twaa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checklist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084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location ready, stock loaded, prices verified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5420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hours and ETAs configured; riders and pickers trained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29992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COD workflow and refunds tested end to end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60120" y="3456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operational; escalation procedures in place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3192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60120" y="39136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validated, analytics verified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8912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6012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 once only; inventory reserved; audit log on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400800" y="1600200"/>
            <a:ext cx="5242255" cy="4526280"/>
          </a:xfrm>
          <a:prstGeom prst="roundRect">
            <a:avLst>
              <a:gd name="adj" fmla="val 2424"/>
            </a:avLst>
          </a:prstGeom>
          <a:solidFill>
            <a:srgbClr val="3A1F3D"/>
          </a:solidFill>
          <a:ln w="12700">
            <a:solidFill>
              <a:srgbClr val="3A1F3D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now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6675120" y="2304288"/>
            <a:ext cx="365760" cy="36576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67512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7178040" y="2286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plan and dates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17804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October start and the January pilot.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675120" y="2926080"/>
            <a:ext cx="365760" cy="36576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675120" y="2980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7178040" y="2907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build route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7178040" y="3182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team vs. vendor; both work from the BRD and prototype.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675120" y="3547872"/>
            <a:ext cx="365760" cy="36576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675120" y="3602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7178040" y="3529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dark store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178040" y="3803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 the city centre, shelving, cold chain, capacity.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675120" y="4169664"/>
            <a:ext cx="365760" cy="36576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675120" y="4224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178040" y="4151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partners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7178040" y="44256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for cards and Meeza; Vodafone Cash / InstaPay; SMS provider.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675120" y="4791456"/>
            <a:ext cx="365760" cy="36576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67512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178040" y="4773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assortment and supplier deals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7178040" y="5047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range and local suppliers; pricing and safety stock.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675120" y="5413248"/>
            <a:ext cx="365760" cy="365760"/>
          </a:xfrm>
          <a:prstGeom prst="ellipse">
            <a:avLst/>
          </a:prstGeom>
          <a:solidFill>
            <a:srgbClr val="F9732F"/>
          </a:solidFill>
          <a:ln w="12700">
            <a:solidFill>
              <a:srgbClr val="F9732F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675120" y="5468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7178040" y="5394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brand assets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7178040" y="5669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logo files and final brand package for the build.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1371600"/>
            <a:ext cx="3291840" cy="2194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7947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places. Brighter together.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97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roots. Closer days.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prototype, design system and guideline: repo eldeniney/abbas, folder twaa/  ·  branch claude/twaa-quick-commerce-design-tfgzjq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Twaa — Project overview &amp; delivery plan</dc:title>
  <dc:subject>PptxGenJS Presentation</dc:subject>
  <dc:creator>Twaa</dc:creator>
  <cp:lastModifiedBy>Twaa</cp:lastModifiedBy>
  <cp:revision>1</cp:revision>
  <dcterms:created xsi:type="dcterms:W3CDTF">2026-09-19T09:06:46Z</dcterms:created>
  <dcterms:modified xsi:type="dcterms:W3CDTF">2026-09-19T09:06:46Z</dcterms:modified>
</cp:coreProperties>
</file>