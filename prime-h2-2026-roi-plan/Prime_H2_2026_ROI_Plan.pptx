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charts/chart2.xml" ContentType="application/vnd.openxmlformats-officedocument.drawingml.chart+xml"/>
  <Override PartName="/ppt/charts/chart3.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charts/chart4.xml" ContentType="application/vnd.openxmlformats-officedocument.drawingml.chart+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Lst>
  <p:notesMasterIdLst>
    <p:notesMasterId r:id="rId6"/>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_rels/chart3.xml.rels><?xml version="1.0" encoding="UTF-8" standalone="yes"?><Relationships xmlns="http://schemas.openxmlformats.org/package/2006/relationships"><Relationship Id="rId1" Type="http://schemas.openxmlformats.org/officeDocument/2006/relationships/package" Target="../embeddings/Microsoft_Excel_Worksheet3.xlsx"/></Relationships>
</file>

<file path=ppt/charts/_rels/chart4.xml.rels><?xml version="1.0" encoding="UTF-8" standalone="yes"?><Relationships xmlns="http://schemas.openxmlformats.org/package/2006/relationships"><Relationship Id="rId1" Type="http://schemas.openxmlformats.org/officeDocument/2006/relationships/package" Target="../embeddings/Microsoft_Excel_Worksheet4.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stacked"/>
        <c:varyColors val="0"/>
        <c:ser>
          <c:idx val="0"/>
          <c:order val="0"/>
          <c:tx>
            <c:strRef>
              <c:f>Sheet1!$B$1</c:f>
              <c:strCache>
                <c:ptCount val="1"/>
                <c:pt idx="0">
                  <c:v>Incremental sales</c:v>
                </c:pt>
              </c:strCache>
            </c:strRef>
          </c:tx>
          <c:spPr>
            <a:solidFill>
              <a:srgbClr val="E8112D"/>
            </a:solidFill>
            <a:effectLst/>
          </c:spPr>
          <c:invertIfNegative val="0"/>
          <c:dLbls>
            <c:numFmt formatCode="0.0;;" sourceLinked="0"/>
            <c:txPr>
              <a:bodyPr/>
              <a:lstStyle/>
              <a:p>
                <a:pPr>
                  <a:defRPr b="1" i="0" strike="noStrike" sz="11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Sheet1!$A$2:$A$7</c:f>
              <c:multiLvlStrCache>
                <c:ptCount val="6"/>
                <c:lvl>
                  <c:pt idx="0">
                    <c:v>Talent retention &amp; continuity</c:v>
                  </c:pt>
                  <c:pt idx="1">
                    <c:v>Account management &amp; save plays</c:v>
                  </c:pt>
                  <c:pt idx="2">
                    <c:v>Zero-vacancy portfolio coverage</c:v>
                  </c:pt>
                  <c:pt idx="3">
                    <c:v>KAM productivity operating system</c:v>
                  </c:pt>
                  <c:pt idx="4">
                    <c:v>Digital campaigns &amp; CVM acceleration</c:v>
                  </c:pt>
                  <c:pt idx="5">
                    <c:v>Sales engine &amp; pipeline discipline</c:v>
                  </c:pt>
                </c:lvl>
              </c:multiLvlStrCache>
            </c:multiLvlStrRef>
          </c:cat>
          <c:val>
            <c:numRef>
              <c:f>Sheet1!$B$2:$B$7</c:f>
              <c:numCache>
                <c:formatCode>General</c:formatCode>
                <c:ptCount val="6"/>
                <c:pt idx="0">
                  <c:v>0</c:v>
                </c:pt>
                <c:pt idx="1">
                  <c:v>0</c:v>
                </c:pt>
                <c:pt idx="2">
                  <c:v>2.5</c:v>
                </c:pt>
                <c:pt idx="3">
                  <c:v>3.3</c:v>
                </c:pt>
                <c:pt idx="4">
                  <c:v>4.9</c:v>
                </c:pt>
                <c:pt idx="5">
                  <c:v>4.8</c:v>
                </c:pt>
              </c:numCache>
            </c:numRef>
          </c:val>
        </c:ser>
        <c:ser>
          <c:idx val="1"/>
          <c:order val="1"/>
          <c:tx>
            <c:strRef>
              <c:f>Sheet1!$C$1</c:f>
              <c:strCache>
                <c:ptCount val="1"/>
                <c:pt idx="0">
                  <c:v>Revenue protection</c:v>
                </c:pt>
              </c:strCache>
            </c:strRef>
          </c:tx>
          <c:spPr>
            <a:solidFill>
              <a:srgbClr val="F2730A"/>
            </a:solidFill>
            <a:effectLst/>
          </c:spPr>
          <c:invertIfNegative val="0"/>
          <c:dLbls>
            <c:numFmt formatCode="0.0;;" sourceLinked="0"/>
            <c:txPr>
              <a:bodyPr/>
              <a:lstStyle/>
              <a:p>
                <a:pPr>
                  <a:defRPr b="1" i="0" strike="noStrike" sz="110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Sheet1!$A$2:$A$7</c:f>
              <c:multiLvlStrCache>
                <c:ptCount val="6"/>
                <c:lvl>
                  <c:pt idx="0">
                    <c:v>Talent retention &amp; continuity</c:v>
                  </c:pt>
                  <c:pt idx="1">
                    <c:v>Account management &amp; save plays</c:v>
                  </c:pt>
                  <c:pt idx="2">
                    <c:v>Zero-vacancy portfolio coverage</c:v>
                  </c:pt>
                  <c:pt idx="3">
                    <c:v>KAM productivity operating system</c:v>
                  </c:pt>
                  <c:pt idx="4">
                    <c:v>Digital campaigns &amp; CVM acceleration</c:v>
                  </c:pt>
                  <c:pt idx="5">
                    <c:v>Sales engine &amp; pipeline discipline</c:v>
                  </c:pt>
                </c:lvl>
              </c:multiLvlStrCache>
            </c:multiLvlStrRef>
          </c:cat>
          <c:val>
            <c:numRef>
              <c:f>Sheet1!$C$2:$C$7</c:f>
              <c:numCache>
                <c:formatCode>General</c:formatCode>
                <c:ptCount val="6"/>
                <c:pt idx="0">
                  <c:v>1.3</c:v>
                </c:pt>
                <c:pt idx="1">
                  <c:v>5.2</c:v>
                </c:pt>
                <c:pt idx="2">
                  <c:v>0</c:v>
                </c:pt>
                <c:pt idx="3">
                  <c:v>0</c:v>
                </c:pt>
                <c:pt idx="4">
                  <c:v>0</c:v>
                </c:pt>
                <c:pt idx="5">
                  <c:v>0</c:v>
                </c:pt>
              </c:numCache>
            </c:numRef>
          </c:val>
        </c:ser>
        <c:dLbls>
          <c:numFmt formatCode="0.0;;" sourceLinked="0"/>
          <c:txPr>
            <a:bodyPr/>
            <a:lstStyle/>
            <a:p>
              <a:pPr>
                <a:defRPr b="1" i="0" strike="noStrike" sz="1100" u="none">
                  <a:solidFill>
                    <a:srgbClr val="FFFFFF"/>
                  </a:solidFill>
                  <a:latin typeface="Segoe UI"/>
                </a:defRPr>
              </a:pPr>
            </a:p>
          </c:txPr>
          <c:dLblPos val="ctr"/>
          <c:showLegendKey val="0"/>
          <c:showVal val="1"/>
          <c:showCatName val="0"/>
          <c:showSerName val="0"/>
          <c:showPercent val="0"/>
          <c:showBubbleSize val="0"/>
          <c:showLeaderLines val="0"/>
        </c:dLbls>
        <c:gapWidth val="45"/>
        <c:overlap val="10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950" b="0" i="0" u="none" strike="noStrike">
                <a:solidFill>
                  <a:srgbClr val="4A5259"/>
                </a:solidFill>
                <a:latin typeface="Segoe UI"/>
              </a:defRPr>
            </a:pPr>
            <a:endParaRPr lang="en-US"/>
          </a:p>
        </c:txPr>
        <c:crossAx val="2094734552"/>
        <c:crosses val="autoZero"/>
        <c:auto val="1"/>
        <c:lblAlgn val="ctr"/>
        <c:noMultiLvlLbl val="1"/>
      </c:catAx>
      <c:valAx>
        <c:axId val="2094734552"/>
        <c:scaling>
          <c:orientation val="minMax"/>
          <c:max val="6"/>
        </c:scaling>
        <c:delete val="0"/>
        <c:axPos val="b"/>
        <c:majorGridlines>
          <c:spPr>
            <a:ln w="12700" cap="flat">
              <a:solidFill>
                <a:srgbClr val="E3E6E9"/>
              </a:solidFill>
              <a:prstDash val="solid"/>
              <a:round/>
            </a:ln>
          </c:spPr>
        </c:majorGridlines>
        <c:numFmt formatCode="0.0&quot;M&quot;" sourceLinked="0"/>
        <c:majorTickMark val="out"/>
        <c:minorTickMark val="none"/>
        <c:tickLblPos val="low"/>
        <c:spPr>
          <a:ln w="12700" cap="flat">
            <a:noFill/>
            <a:prstDash val="solid"/>
            <a:round/>
          </a:ln>
        </c:spPr>
        <c:txPr>
          <a:bodyPr/>
          <a:lstStyle/>
          <a:p>
            <a:pPr>
              <a:defRPr sz="900" b="0" i="0" u="none" strike="noStrike">
                <a:solidFill>
                  <a:srgbClr val="4A5259"/>
                </a:solidFill>
                <a:latin typeface="Segoe UI"/>
              </a:defRPr>
            </a:pPr>
            <a:endParaRPr lang="en-US"/>
          </a:p>
        </c:txPr>
        <c:crossAx val="2094734554"/>
        <c:crosses val="autoZero"/>
        <c:crossBetween val="between"/>
        <c:majorUnit val="2"/>
      </c:valAx>
      <c:spPr>
        <a:solidFill>
          <a:srgbClr val="F7F8FA"/>
        </a:solidFill>
        <a:ln>
          <a:noFill/>
        </a:ln>
        <a:effectLst/>
      </c:spPr>
    </c:plotArea>
    <c:legend>
      <c:legendPos val="t"/>
      <c:overlay val="0"/>
      <c:txPr>
        <a:bodyPr/>
        <a:lstStyle/>
        <a:p>
          <a:pPr>
            <a:defRPr sz="950">
              <a:solidFill>
                <a:srgbClr val="4A5259"/>
              </a:solidFill>
              <a:latin typeface="Segoe UI"/>
              <a:cs typeface="Segoe UI"/>
            </a:defRPr>
          </a:pPr>
          <a:endParaRPr lang="en-US"/>
        </a:p>
      </c:txPr>
    </c:legend>
    <c:plotVisOnly val="1"/>
    <c:dispBlanksAs val="span"/>
  </c:chart>
  <c:spPr>
    <a:solidFill>
      <a:srgbClr val="F7F8FA"/>
    </a:solid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clustered"/>
        <c:varyColors val="0"/>
        <c:ser>
          <c:idx val="0"/>
          <c:order val="0"/>
          <c:tx>
            <c:strRef>
              <c:f>Sheet1!$B$1</c:f>
              <c:strCache>
                <c:ptCount val="1"/>
                <c:pt idx="0">
                  <c:v>Productive KAM FTE (plan)</c:v>
                </c:pt>
              </c:strCache>
            </c:strRef>
          </c:tx>
          <c:spPr>
            <a:solidFill>
              <a:srgbClr val="C51230"/>
            </a:solidFill>
            <a:effectLst/>
          </c:spPr>
          <c:invertIfNegative val="0"/>
          <c:dLbls>
            <c:numFmt formatCode="#,##0" sourceLinked="0"/>
            <c:txPr>
              <a:bodyPr/>
              <a:lstStyle/>
              <a:p>
                <a:pPr>
                  <a:defRPr b="1" i="0" strike="noStrike" sz="950" u="none">
                    <a:solidFill>
                      <a:srgbClr val="4A5259"/>
                    </a:solidFill>
                    <a:latin typeface="Segoe UI"/>
                  </a:defRPr>
                </a:pPr>
              </a:p>
            </c:txPr>
            <c:dLblPos val="outEnd"/>
            <c:showLegendKey val="0"/>
            <c:showVal val="1"/>
            <c:showCatName val="0"/>
            <c:showSerName val="0"/>
            <c:showPercent val="0"/>
            <c:showBubbleSize val="0"/>
            <c:showLeaderLines val="0"/>
          </c:dLbls>
          <c:cat>
            <c:multiLvlStrRef>
              <c:f>Sheet1!$A$2:$A$7</c:f>
              <c:multiLvlStrCache>
                <c:ptCount val="6"/>
                <c:lvl>
                  <c:pt idx="0">
                    <c:v>Jul</c:v>
                  </c:pt>
                  <c:pt idx="1">
                    <c:v>Aug</c:v>
                  </c:pt>
                  <c:pt idx="2">
                    <c:v>Sep</c:v>
                  </c:pt>
                  <c:pt idx="3">
                    <c:v>Oct</c:v>
                  </c:pt>
                  <c:pt idx="4">
                    <c:v>Nov</c:v>
                  </c:pt>
                  <c:pt idx="5">
                    <c:v>Dec</c:v>
                  </c:pt>
                </c:lvl>
              </c:multiLvlStrCache>
            </c:multiLvlStrRef>
          </c:cat>
          <c:val>
            <c:numRef>
              <c:f>Sheet1!$B$2:$B$7</c:f>
              <c:numCache>
                <c:formatCode>General</c:formatCode>
                <c:ptCount val="6"/>
                <c:pt idx="0">
                  <c:v>97</c:v>
                </c:pt>
                <c:pt idx="1">
                  <c:v>100</c:v>
                </c:pt>
                <c:pt idx="2">
                  <c:v>104</c:v>
                </c:pt>
                <c:pt idx="3">
                  <c:v>108</c:v>
                </c:pt>
                <c:pt idx="4">
                  <c:v>112</c:v>
                </c:pt>
                <c:pt idx="5">
                  <c:v>114</c:v>
                </c:pt>
              </c:numCache>
            </c:numRef>
          </c:val>
        </c:ser>
        <c:dLbls>
          <c:numFmt formatCode="#,##0" sourceLinked="0"/>
          <c:txPr>
            <a:bodyPr/>
            <a:lstStyle/>
            <a:p>
              <a:pPr>
                <a:defRPr b="1" i="0" strike="noStrike" sz="950" u="none">
                  <a:solidFill>
                    <a:srgbClr val="4A5259"/>
                  </a:solidFill>
                  <a:latin typeface="Segoe UI"/>
                </a:defRPr>
              </a:pPr>
            </a:p>
          </c:txPr>
          <c:dLblPos val="outEnd"/>
          <c:showLegendKey val="0"/>
          <c:showVal val="1"/>
          <c:showCatName val="0"/>
          <c:showSerName val="0"/>
          <c:showPercent val="0"/>
          <c:showBubbleSize val="0"/>
          <c:showLeaderLines val="0"/>
        </c:dLbls>
        <c:gapWidth val="55"/>
        <c:overlap val="0"/>
        <c:axId val="2094734554"/>
        <c:axId val="2094734552"/>
        <c:axId val="2094734556"/>
      </c:barChart>
      <c:lineChart>
        <c:varyColors val="0"/>
        <c:ser>
          <c:idx val="1"/>
          <c:order val="1"/>
          <c:tx>
            <c:strRef>
              <c:f>Sheet1!$C$1</c:f>
              <c:strCache>
                <c:ptCount val="1"/>
                <c:pt idx="0">
                  <c:v>Required at H1 productivity (132)</c:v>
                </c:pt>
              </c:strCache>
            </c:strRef>
          </c:tx>
          <c:spPr>
            <a:solidFill>
              <a:srgbClr val="1A1D21"/>
            </a:solidFill>
            <a:ln w="25400" cap="flat">
              <a:solidFill>
                <a:srgbClr val="1A1D21"/>
              </a:solidFill>
              <a:prstDash val="dash"/>
              <a:round/>
            </a:ln>
            <a:effectLst/>
          </c:spPr>
          <c:invertIfNegative val="0"/>
          <c:dLbls>
            <c:numFmt formatCode="#,##0" sourceLinked="0"/>
            <c:txPr>
              <a:bodyPr/>
              <a:lstStyle/>
              <a:p>
                <a:pPr>
                  <a:defRPr b="0" i="0" strike="noStrike" sz="1200" u="none">
                    <a:solidFill>
                      <a:srgbClr val="000000"/>
                    </a:solidFill>
                    <a:latin typeface="Segoe UI"/>
                  </a:defRPr>
                </a:pPr>
              </a:p>
            </c:txPr>
            <c:showLegendKey val="0"/>
            <c:showVal val="0"/>
            <c:showCatName val="0"/>
            <c:showSerName val="0"/>
            <c:showPercent val="0"/>
            <c:showBubbleSize val="0"/>
            <c:showLeaderLines val="0"/>
          </c:dLbls>
          <c:marker>
            <c:symbol val="none"/>
            <c:size val="6"/>
            <c:spPr>
              <a:solidFill>
                <a:srgbClr val="1A1D21"/>
              </a:solidFill>
              <a:ln w="9525" cap="flat">
                <a:solidFill>
                  <a:srgbClr val="1A1D21"/>
                </a:solidFill>
                <a:prstDash val="solid"/>
                <a:round/>
              </a:ln>
              <a:effectLst/>
            </c:spPr>
          </c:marker>
          <c:cat>
            <c:multiLvlStrRef>
              <c:f>Sheet1!$A$2:$A$7</c:f>
              <c:multiLvlStrCache>
                <c:ptCount val="6"/>
                <c:lvl>
                  <c:pt idx="0">
                    <c:v>Jul</c:v>
                  </c:pt>
                  <c:pt idx="1">
                    <c:v>Aug</c:v>
                  </c:pt>
                  <c:pt idx="2">
                    <c:v>Sep</c:v>
                  </c:pt>
                  <c:pt idx="3">
                    <c:v>Oct</c:v>
                  </c:pt>
                  <c:pt idx="4">
                    <c:v>Nov</c:v>
                  </c:pt>
                  <c:pt idx="5">
                    <c:v>Dec</c:v>
                  </c:pt>
                </c:lvl>
              </c:multiLvlStrCache>
            </c:multiLvlStrRef>
          </c:cat>
          <c:val>
            <c:numRef>
              <c:f>Sheet1!$C$2:$C$7</c:f>
              <c:numCache>
                <c:formatCode>General</c:formatCode>
                <c:ptCount val="6"/>
                <c:pt idx="0">
                  <c:v>132</c:v>
                </c:pt>
                <c:pt idx="1">
                  <c:v>132</c:v>
                </c:pt>
                <c:pt idx="2">
                  <c:v>132</c:v>
                </c:pt>
                <c:pt idx="3">
                  <c:v>132</c:v>
                </c:pt>
                <c:pt idx="4">
                  <c:v>132</c:v>
                </c:pt>
                <c:pt idx="5">
                  <c:v>132</c:v>
                </c:pt>
              </c:numCache>
            </c:numRef>
          </c:val>
          <c:smooth val="0"/>
        </c:ser>
        <c:dLbls>
          <c:numFmt formatCode="#,##0" sourceLinked="0"/>
          <c:txPr>
            <a:bodyPr/>
            <a:lstStyle/>
            <a:p>
              <a:pPr>
                <a:defRPr b="0" i="0" strike="noStrike" sz="1200" u="none">
                  <a:solidFill>
                    <a:srgbClr val="000000"/>
                  </a:solidFill>
                  <a:latin typeface="Segoe UI"/>
                </a:defRPr>
              </a:pPr>
            </a:p>
          </c:txPr>
          <c:showLegendKey val="0"/>
          <c:showVal val="0"/>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259"/>
                </a:solidFill>
                <a:latin typeface="Segoe UI"/>
              </a:defRPr>
            </a:pPr>
            <a:endParaRPr lang="en-US"/>
          </a:p>
        </c:txPr>
        <c:crossAx val="2094734552"/>
        <c:crosses val="autoZero"/>
        <c:auto val="1"/>
        <c:lblAlgn val="ctr"/>
        <c:noMultiLvlLbl val="1"/>
      </c:catAx>
      <c:valAx>
        <c:axId val="2094734552"/>
        <c:scaling>
          <c:orientation val="minMax"/>
          <c:max val="140"/>
          <c:min val="80"/>
        </c:scaling>
        <c:delete val="0"/>
        <c:axPos val="l"/>
        <c:majorGridlines>
          <c:spPr>
            <a:ln w="12700" cap="flat">
              <a:solidFill>
                <a:srgbClr val="E3E6E9"/>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4A5259"/>
                </a:solidFill>
                <a:latin typeface="Segoe UI"/>
              </a:defRPr>
            </a:pPr>
            <a:endParaRPr lang="en-US"/>
          </a:p>
        </c:txPr>
        <c:crossAx val="2094734554"/>
        <c:crosses val="autoZero"/>
        <c:crossBetween val="between"/>
        <c:majorUnit val="20"/>
      </c:valAx>
      <c:spPr>
        <a:solidFill>
          <a:srgbClr val="F7F8FA"/>
        </a:solidFill>
        <a:ln>
          <a:noFill/>
        </a:ln>
        <a:effectLst/>
      </c:spPr>
    </c:plotArea>
    <c:legend>
      <c:legendPos val="b"/>
      <c:overlay val="0"/>
      <c:txPr>
        <a:bodyPr/>
        <a:lstStyle/>
        <a:p>
          <a:pPr>
            <a:defRPr sz="900">
              <a:solidFill>
                <a:srgbClr val="4A5259"/>
              </a:solidFill>
              <a:latin typeface="Segoe UI"/>
              <a:cs typeface="Segoe UI"/>
            </a:defRPr>
          </a:pPr>
          <a:endParaRPr lang="en-US"/>
        </a:p>
      </c:txPr>
    </c:legend>
    <c:plotVisOnly val="1"/>
    <c:dispBlanksAs val="span"/>
  </c:chart>
  <c:spPr>
    <a:solidFill>
      <a:srgbClr val="F7F8FA"/>
    </a:solid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lineChart>
        <c:varyColors val="0"/>
        <c:ser>
          <c:idx val="0"/>
          <c:order val="0"/>
          <c:tx>
            <c:strRef>
              <c:f>Sheet1!$B$1</c:f>
              <c:strCache>
                <c:ptCount val="1"/>
                <c:pt idx="0">
                  <c:v>KAM vacancy rate</c:v>
                </c:pt>
              </c:strCache>
            </c:strRef>
          </c:tx>
          <c:spPr>
            <a:solidFill>
              <a:srgbClr val="177F8C"/>
            </a:solidFill>
            <a:ln w="31750" cap="flat">
              <a:solidFill>
                <a:srgbClr val="177F8C"/>
              </a:solidFill>
              <a:prstDash val="solid"/>
              <a:round/>
            </a:ln>
            <a:effectLst/>
          </c:spPr>
          <c:invertIfNegative val="0"/>
          <c:dLbls>
            <c:numFmt formatCode="0.0&quot;%&quot;" sourceLinked="0"/>
            <c:txPr>
              <a:bodyPr/>
              <a:lstStyle/>
              <a:p>
                <a:pPr>
                  <a:defRPr b="0" i="0" strike="noStrike" sz="850" u="none">
                    <a:solidFill>
                      <a:srgbClr val="4A5259"/>
                    </a:solidFill>
                    <a:latin typeface="Segoe UI"/>
                  </a:defRPr>
                </a:pPr>
              </a:p>
            </c:txPr>
            <c:dLblPos val="t"/>
            <c:showLegendKey val="0"/>
            <c:showVal val="1"/>
            <c:showCatName val="0"/>
            <c:showSerName val="0"/>
            <c:showPercent val="0"/>
            <c:showBubbleSize val="0"/>
            <c:showLeaderLines val="0"/>
          </c:dLbls>
          <c:marker>
            <c:symbol val="circle"/>
            <c:size val="6"/>
            <c:spPr>
              <a:solidFill>
                <a:srgbClr val="177F8C"/>
              </a:solidFill>
              <a:ln w="9525" cap="flat">
                <a:solidFill>
                  <a:srgbClr val="177F8C"/>
                </a:solidFill>
                <a:prstDash val="solid"/>
                <a:round/>
              </a:ln>
              <a:effectLst/>
            </c:spPr>
          </c:marker>
          <c:cat>
            <c:multiLvlStrRef>
              <c:f>Sheet1!$A$2:$A$7</c:f>
              <c:multiLvlStrCache>
                <c:ptCount val="6"/>
                <c:lvl>
                  <c:pt idx="0">
                    <c:v>Jul</c:v>
                  </c:pt>
                  <c:pt idx="1">
                    <c:v>Aug</c:v>
                  </c:pt>
                  <c:pt idx="2">
                    <c:v>Sep</c:v>
                  </c:pt>
                  <c:pt idx="3">
                    <c:v>Oct</c:v>
                  </c:pt>
                  <c:pt idx="4">
                    <c:v>Nov</c:v>
                  </c:pt>
                  <c:pt idx="5">
                    <c:v>Dec</c:v>
                  </c:pt>
                </c:lvl>
              </c:multiLvlStrCache>
            </c:multiLvlStrRef>
          </c:cat>
          <c:val>
            <c:numRef>
              <c:f>Sheet1!$B$2:$B$7</c:f>
              <c:numCache>
                <c:formatCode>General</c:formatCode>
                <c:ptCount val="6"/>
                <c:pt idx="0">
                  <c:v>12.5</c:v>
                </c:pt>
                <c:pt idx="1">
                  <c:v>10.8</c:v>
                </c:pt>
                <c:pt idx="2">
                  <c:v>8.3</c:v>
                </c:pt>
                <c:pt idx="3">
                  <c:v>5.8</c:v>
                </c:pt>
                <c:pt idx="4">
                  <c:v>3.3</c:v>
                </c:pt>
                <c:pt idx="5">
                  <c:v>1.7</c:v>
                </c:pt>
              </c:numCache>
            </c:numRef>
          </c:val>
          <c:smooth val="0"/>
        </c:ser>
        <c:ser>
          <c:idx val="1"/>
          <c:order val="1"/>
          <c:tx>
            <c:strRef>
              <c:f>Sheet1!$C$1</c:f>
              <c:strCache>
                <c:ptCount val="1"/>
                <c:pt idx="0">
                  <c:v>Rolling 12-month attrition</c:v>
                </c:pt>
              </c:strCache>
            </c:strRef>
          </c:tx>
          <c:spPr>
            <a:solidFill>
              <a:srgbClr val="F2730A"/>
            </a:solidFill>
            <a:ln w="31750" cap="flat">
              <a:solidFill>
                <a:srgbClr val="F2730A"/>
              </a:solidFill>
              <a:prstDash val="solid"/>
              <a:round/>
            </a:ln>
            <a:effectLst/>
          </c:spPr>
          <c:invertIfNegative val="0"/>
          <c:dLbls>
            <c:numFmt formatCode="0.0&quot;%&quot;" sourceLinked="0"/>
            <c:txPr>
              <a:bodyPr/>
              <a:lstStyle/>
              <a:p>
                <a:pPr>
                  <a:defRPr b="0" i="0" strike="noStrike" sz="850" u="none">
                    <a:solidFill>
                      <a:srgbClr val="4A5259"/>
                    </a:solidFill>
                    <a:latin typeface="Segoe UI"/>
                  </a:defRPr>
                </a:pPr>
              </a:p>
            </c:txPr>
            <c:dLblPos val="t"/>
            <c:showLegendKey val="0"/>
            <c:showVal val="1"/>
            <c:showCatName val="0"/>
            <c:showSerName val="0"/>
            <c:showPercent val="0"/>
            <c:showBubbleSize val="0"/>
            <c:showLeaderLines val="0"/>
          </c:dLbls>
          <c:marker>
            <c:symbol val="circle"/>
            <c:size val="6"/>
            <c:spPr>
              <a:solidFill>
                <a:srgbClr val="F2730A"/>
              </a:solidFill>
              <a:ln w="9525" cap="flat">
                <a:solidFill>
                  <a:srgbClr val="F2730A"/>
                </a:solidFill>
                <a:prstDash val="solid"/>
                <a:round/>
              </a:ln>
              <a:effectLst/>
            </c:spPr>
          </c:marker>
          <c:cat>
            <c:multiLvlStrRef>
              <c:f>Sheet1!$A$2:$A$7</c:f>
              <c:multiLvlStrCache>
                <c:ptCount val="6"/>
                <c:lvl>
                  <c:pt idx="0">
                    <c:v>Jul</c:v>
                  </c:pt>
                  <c:pt idx="1">
                    <c:v>Aug</c:v>
                  </c:pt>
                  <c:pt idx="2">
                    <c:v>Sep</c:v>
                  </c:pt>
                  <c:pt idx="3">
                    <c:v>Oct</c:v>
                  </c:pt>
                  <c:pt idx="4">
                    <c:v>Nov</c:v>
                  </c:pt>
                  <c:pt idx="5">
                    <c:v>Dec</c:v>
                  </c:pt>
                </c:lvl>
              </c:multiLvlStrCache>
            </c:multiLvlStrRef>
          </c:cat>
          <c:val>
            <c:numRef>
              <c:f>Sheet1!$C$2:$C$7</c:f>
              <c:numCache>
                <c:formatCode>General</c:formatCode>
                <c:ptCount val="6"/>
                <c:pt idx="0">
                  <c:v>20.2</c:v>
                </c:pt>
                <c:pt idx="1">
                  <c:v>19</c:v>
                </c:pt>
                <c:pt idx="2">
                  <c:v>17.5</c:v>
                </c:pt>
                <c:pt idx="3">
                  <c:v>16</c:v>
                </c:pt>
                <c:pt idx="4">
                  <c:v>15</c:v>
                </c:pt>
                <c:pt idx="5">
                  <c:v>14</c:v>
                </c:pt>
              </c:numCache>
            </c:numRef>
          </c:val>
          <c:smooth val="0"/>
        </c:ser>
        <c:dLbls>
          <c:numFmt formatCode="0.0&quot;%&quot;" sourceLinked="0"/>
          <c:txPr>
            <a:bodyPr/>
            <a:lstStyle/>
            <a:p>
              <a:pPr>
                <a:defRPr b="0" i="0" strike="noStrike" sz="850" u="none">
                  <a:solidFill>
                    <a:srgbClr val="4A5259"/>
                  </a:solidFill>
                  <a:latin typeface="Segoe UI"/>
                </a:defRPr>
              </a:pPr>
            </a:p>
          </c:txPr>
          <c:dLblPos val="t"/>
          <c:showLegendKey val="0"/>
          <c:showVal val="1"/>
          <c:showCatName val="0"/>
          <c:showSerName val="0"/>
          <c:showPercent val="0"/>
          <c:showBubbleSize val="0"/>
          <c:showLeaderLines val="0"/>
        </c:dLbls>
        <c:marker val="1"/>
        <c:axId val="2094734554"/>
        <c:axId val="2094734552"/>
        <c:axId val="2094734556"/>
      </c:line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4A5259"/>
                </a:solidFill>
                <a:latin typeface="Segoe UI"/>
              </a:defRPr>
            </a:pPr>
            <a:endParaRPr lang="en-US"/>
          </a:p>
        </c:txPr>
        <c:crossAx val="2094734552"/>
        <c:crosses val="autoZero"/>
        <c:auto val="1"/>
        <c:lblAlgn val="ctr"/>
        <c:noMultiLvlLbl val="1"/>
      </c:catAx>
      <c:valAx>
        <c:axId val="2094734552"/>
        <c:scaling>
          <c:orientation val="minMax"/>
          <c:max val="24"/>
          <c:min val="0"/>
        </c:scaling>
        <c:delete val="0"/>
        <c:axPos val="l"/>
        <c:majorGridlines>
          <c:spPr>
            <a:ln w="12700" cap="flat">
              <a:solidFill>
                <a:srgbClr val="E3E6E9"/>
              </a:solidFill>
              <a:prstDash val="solid"/>
              <a:round/>
            </a:ln>
          </c:spPr>
        </c:majorGridlines>
        <c:numFmt formatCode="0&quot;%&quot;" sourceLinked="0"/>
        <c:majorTickMark val="out"/>
        <c:minorTickMark val="none"/>
        <c:tickLblPos val="nextTo"/>
        <c:spPr>
          <a:ln w="12700" cap="flat">
            <a:noFill/>
            <a:prstDash val="solid"/>
            <a:round/>
          </a:ln>
        </c:spPr>
        <c:txPr>
          <a:bodyPr/>
          <a:lstStyle/>
          <a:p>
            <a:pPr>
              <a:defRPr sz="900" b="0" i="0" u="none" strike="noStrike">
                <a:solidFill>
                  <a:srgbClr val="4A5259"/>
                </a:solidFill>
                <a:latin typeface="Segoe UI"/>
              </a:defRPr>
            </a:pPr>
            <a:endParaRPr lang="en-US"/>
          </a:p>
        </c:txPr>
        <c:crossAx val="2094734554"/>
        <c:crosses val="autoZero"/>
        <c:crossBetween val="between"/>
        <c:majorUnit val="6"/>
      </c:valAx>
      <c:spPr>
        <a:solidFill>
          <a:srgbClr val="F7F8FA"/>
        </a:solidFill>
        <a:ln>
          <a:noFill/>
        </a:ln>
        <a:effectLst/>
      </c:spPr>
    </c:plotArea>
    <c:legend>
      <c:legendPos val="b"/>
      <c:overlay val="0"/>
      <c:txPr>
        <a:bodyPr/>
        <a:lstStyle/>
        <a:p>
          <a:pPr>
            <a:defRPr sz="900">
              <a:solidFill>
                <a:srgbClr val="4A5259"/>
              </a:solidFill>
              <a:latin typeface="Segoe UI"/>
              <a:cs typeface="Segoe UI"/>
            </a:defRPr>
          </a:pPr>
          <a:endParaRPr lang="en-US"/>
        </a:p>
      </c:txPr>
    </c:legend>
    <c:plotVisOnly val="1"/>
    <c:dispBlanksAs val="span"/>
  </c:chart>
  <c:spPr>
    <a:solidFill>
      <a:srgbClr val="F7F8FA"/>
    </a:solid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col"/>
        <c:grouping val="stacked"/>
        <c:varyColors val="0"/>
        <c:ser>
          <c:idx val="0"/>
          <c:order val="0"/>
          <c:tx>
            <c:strRef>
              <c:f>Sheet1!$B$1</c:f>
              <c:strCache>
                <c:ptCount val="1"/>
                <c:pt idx="0">
                  <c:v>Incremental sales</c:v>
                </c:pt>
              </c:strCache>
            </c:strRef>
          </c:tx>
          <c:spPr>
            <a:solidFill>
              <a:srgbClr val="E8112D"/>
            </a:solidFill>
            <a:effectLst/>
          </c:spPr>
          <c:invertIfNegative val="0"/>
          <c:dLbls>
            <c:numFmt formatCode="0.0;;" sourceLinked="0"/>
            <c:txPr>
              <a:bodyPr/>
              <a:lstStyle/>
              <a:p>
                <a:pPr>
                  <a:defRPr b="1" i="0" strike="noStrike" sz="85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Sheet1!$A$2:$A$7</c:f>
              <c:multiLvlStrCache>
                <c:ptCount val="6"/>
                <c:lvl>
                  <c:pt idx="0">
                    <c:v>Jul</c:v>
                  </c:pt>
                  <c:pt idx="1">
                    <c:v>Aug</c:v>
                  </c:pt>
                  <c:pt idx="2">
                    <c:v>Sep</c:v>
                  </c:pt>
                  <c:pt idx="3">
                    <c:v>Oct</c:v>
                  </c:pt>
                  <c:pt idx="4">
                    <c:v>Nov</c:v>
                  </c:pt>
                  <c:pt idx="5">
                    <c:v>Dec</c:v>
                  </c:pt>
                </c:lvl>
              </c:multiLvlStrCache>
            </c:multiLvlStrRef>
          </c:cat>
          <c:val>
            <c:numRef>
              <c:f>Sheet1!$B$2:$B$7</c:f>
              <c:numCache>
                <c:formatCode>General</c:formatCode>
                <c:ptCount val="6"/>
                <c:pt idx="0">
                  <c:v>1.2</c:v>
                </c:pt>
                <c:pt idx="1">
                  <c:v>1.8</c:v>
                </c:pt>
                <c:pt idx="2">
                  <c:v>2.4</c:v>
                </c:pt>
                <c:pt idx="3">
                  <c:v>3</c:v>
                </c:pt>
                <c:pt idx="4">
                  <c:v>3.4</c:v>
                </c:pt>
                <c:pt idx="5">
                  <c:v>3.7</c:v>
                </c:pt>
              </c:numCache>
            </c:numRef>
          </c:val>
        </c:ser>
        <c:ser>
          <c:idx val="1"/>
          <c:order val="1"/>
          <c:tx>
            <c:strRef>
              <c:f>Sheet1!$C$1</c:f>
              <c:strCache>
                <c:ptCount val="1"/>
                <c:pt idx="0">
                  <c:v>Revenue protection</c:v>
                </c:pt>
              </c:strCache>
            </c:strRef>
          </c:tx>
          <c:spPr>
            <a:solidFill>
              <a:srgbClr val="F2730A"/>
            </a:solidFill>
            <a:effectLst/>
          </c:spPr>
          <c:invertIfNegative val="0"/>
          <c:dLbls>
            <c:numFmt formatCode="0.0;;" sourceLinked="0"/>
            <c:txPr>
              <a:bodyPr/>
              <a:lstStyle/>
              <a:p>
                <a:pPr>
                  <a:defRPr b="1" i="0" strike="noStrike" sz="850" u="none">
                    <a:solidFill>
                      <a:srgbClr val="FFFFFF"/>
                    </a:solidFill>
                    <a:latin typeface="Segoe UI"/>
                  </a:defRPr>
                </a:pPr>
              </a:p>
            </c:txPr>
            <c:dLblPos val="ctr"/>
            <c:showLegendKey val="0"/>
            <c:showVal val="1"/>
            <c:showCatName val="0"/>
            <c:showSerName val="0"/>
            <c:showPercent val="0"/>
            <c:showBubbleSize val="0"/>
            <c:showLeaderLines val="0"/>
          </c:dLbls>
          <c:cat>
            <c:multiLvlStrRef>
              <c:f>Sheet1!$A$2:$A$7</c:f>
              <c:multiLvlStrCache>
                <c:ptCount val="6"/>
                <c:lvl>
                  <c:pt idx="0">
                    <c:v>Jul</c:v>
                  </c:pt>
                  <c:pt idx="1">
                    <c:v>Aug</c:v>
                  </c:pt>
                  <c:pt idx="2">
                    <c:v>Sep</c:v>
                  </c:pt>
                  <c:pt idx="3">
                    <c:v>Oct</c:v>
                  </c:pt>
                  <c:pt idx="4">
                    <c:v>Nov</c:v>
                  </c:pt>
                  <c:pt idx="5">
                    <c:v>Dec</c:v>
                  </c:pt>
                </c:lvl>
              </c:multiLvlStrCache>
            </c:multiLvlStrRef>
          </c:cat>
          <c:val>
            <c:numRef>
              <c:f>Sheet1!$C$2:$C$7</c:f>
              <c:numCache>
                <c:formatCode>General</c:formatCode>
                <c:ptCount val="6"/>
                <c:pt idx="0">
                  <c:v>0.6</c:v>
                </c:pt>
                <c:pt idx="1">
                  <c:v>0.8</c:v>
                </c:pt>
                <c:pt idx="2">
                  <c:v>1</c:v>
                </c:pt>
                <c:pt idx="3">
                  <c:v>1.2</c:v>
                </c:pt>
                <c:pt idx="4">
                  <c:v>1.4</c:v>
                </c:pt>
                <c:pt idx="5">
                  <c:v>1.5</c:v>
                </c:pt>
              </c:numCache>
            </c:numRef>
          </c:val>
        </c:ser>
        <c:dLbls>
          <c:numFmt formatCode="0.0;;" sourceLinked="0"/>
          <c:txPr>
            <a:bodyPr/>
            <a:lstStyle/>
            <a:p>
              <a:pPr>
                <a:defRPr b="1" i="0" strike="noStrike" sz="850" u="none">
                  <a:solidFill>
                    <a:srgbClr val="FFFFFF"/>
                  </a:solidFill>
                  <a:latin typeface="Segoe UI"/>
                </a:defRPr>
              </a:pPr>
            </a:p>
          </c:txPr>
          <c:dLblPos val="ctr"/>
          <c:showLegendKey val="0"/>
          <c:showVal val="1"/>
          <c:showCatName val="0"/>
          <c:showSerName val="0"/>
          <c:showPercent val="0"/>
          <c:showBubbleSize val="0"/>
          <c:showLeaderLines val="0"/>
        </c:dLbls>
        <c:gapWidth val="55"/>
        <c:overlap val="10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noFill/>
            <a:prstDash val="solid"/>
            <a:round/>
          </a:ln>
        </c:spPr>
        <c:txPr>
          <a:bodyPr/>
          <a:lstStyle/>
          <a:p>
            <a:pPr>
              <a:defRPr sz="1000" b="0" i="0" u="none" strike="noStrike">
                <a:solidFill>
                  <a:srgbClr val="8A9299"/>
                </a:solidFill>
                <a:latin typeface="Segoe UI"/>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2E3338"/>
              </a:solidFill>
              <a:prstDash val="solid"/>
              <a:round/>
            </a:ln>
          </c:spPr>
        </c:majorGridlines>
        <c:numFmt formatCode="General" sourceLinked="0"/>
        <c:majorTickMark val="out"/>
        <c:minorTickMark val="none"/>
        <c:tickLblPos val="nextTo"/>
        <c:spPr>
          <a:ln w="12700" cap="flat">
            <a:noFill/>
            <a:prstDash val="solid"/>
            <a:round/>
          </a:ln>
        </c:spPr>
        <c:txPr>
          <a:bodyPr/>
          <a:lstStyle/>
          <a:p>
            <a:pPr>
              <a:defRPr sz="900" b="0" i="0" u="none" strike="noStrike">
                <a:solidFill>
                  <a:srgbClr val="8A9299"/>
                </a:solidFill>
                <a:latin typeface="Segoe UI"/>
              </a:defRPr>
            </a:pPr>
            <a:endParaRPr lang="en-US"/>
          </a:p>
        </c:txPr>
        <c:crossAx val="2094734554"/>
        <c:crosses val="autoZero"/>
        <c:crossBetween val="between"/>
        <c:majorUnit val="2"/>
      </c:valAx>
      <c:spPr>
        <a:solidFill>
          <a:srgbClr val="1A1D21"/>
        </a:solidFill>
        <a:ln>
          <a:noFill/>
        </a:ln>
        <a:effectLst/>
      </c:spPr>
    </c:plotArea>
    <c:legend>
      <c:legendPos val="b"/>
      <c:overlay val="0"/>
      <c:txPr>
        <a:bodyPr/>
        <a:lstStyle/>
        <a:p>
          <a:pPr>
            <a:defRPr sz="850">
              <a:solidFill>
                <a:srgbClr val="8A9299"/>
              </a:solidFill>
              <a:latin typeface="Segoe UI"/>
              <a:cs typeface="Segoe UI"/>
            </a:defRPr>
          </a:pPr>
          <a:endParaRPr lang="en-US"/>
        </a:p>
      </c:txPr>
    </c:legend>
    <c:plotVisOnly val="1"/>
    <c:dispBlanksAs val="span"/>
  </c:chart>
  <c:spPr>
    <a:solidFill>
      <a:srgbClr val="1A1D21"/>
    </a:solid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Opening message: the number is a 39% step-up in six months, and it splits into exactly two ROI engines.
Engine 1 - incremental annualised sales: AED 41.0M in H1 to AED 56.5M in H2 across Mobile, Fixed, Digital &amp; ES and Devices. Device value is one-time and is NOT annualised; it is reported separately so the ARR line stays clean.
Engine 2 - revenue protection: AED 15.5M to AED 22.0M of validated retained ARR from accounts that hit a defined churn-risk trigger.
The discipline point for leadership: hiring, retention, productivity and CVM are NOT a third revenue line. They are the capacity that makes the first two achievable. Counting them separately would double count the same dirham.
Rounding: bar values are rounded to one decimal; the bridge reconciles exactly to AED 22.0M.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the chart left, the accountability right. Two rules keep this honest:
1. No double counting. CVM-attributed revenue is a SOURCE attribution inside Mobile, Fixed, Digital and Devices - it is not a seventh product line. L6 is credited only with the incremental ARR that would not have been created without the campaign engine.
2. Protection is not sales. L2 and L4 recognise retained ARR on accounts with a validated risk trigger; L1, L3, L5 and L6 recognise new ARR. The same dirham never appears in both.
Weakest link to call out: L6 at AED 4.9M assumes CVM lead volume roughly triples AND that KAMs act on digital leads within 24 hours. Without the closed loop, the leads convert at today's 9% and this lever under-delivers by roughly half.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that decides whether the plan is credible.
The arithmetic: H1 delivered AED 41.0M of incremental ARR on an average 96 productive FTE, i.e. AED 427k per KAM per half. The H2 target of AED 56.5M against an average 105.8 productive FTE requires AED 534k - a 25% uplift. At unchanged productivity we would need 132 productive KAMs, which the approved headcount of 120 cannot supply.
So the uplift must come from three sources, not wishful thinking: selling time 41% to 55% (+12%), digital lead flow through CVM (+7%), and solution/AI attach on existing accounts (+6%).
Productive FTE is defined as headcount adjusted for vacancy, notice period, leave and new-joiner ramp (month 1 30%, month 2 60%, month 3 85%, month 4 100%). Ask HR to confirm the vacancy and attrition baselines before this goes to CBO.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Operating rhythm behind the waves:
- Weekly (Mon, 45 min): Director war room - coverage, Red-tier churn saves, top 20 opportunities, blockers with named owners.
- Weekly (Wed): TL 1:1s on the 10-4-2-1 KAM rhythm (10 accounts touched, 4 discovery conversations, 2 qualified opportunities, 1 closure).
- Monthly: ROI Ledger review with Finance - every claimed dirham carries an evidence status.
- Monthly: people review - vacancy, ramp, flight risk, regretted attrition.
- Quarterly: stop/scale on initiatives and portfolio rebalancing.
The three asks are the ones I cannot resolve inside Prime. Number 3 matters most: without an agreed protection methodology, the AED 22.0M protection line will be challenged at year end and the whole ROI number becomes contestable.
Top failure modes: (1) hiring slips and the productivity ask becomes impossible; (2) CVM lead flow arrives but the 24-hour KAM SLA is not enforced; (3) protection is claimed without evidence and is written back.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chart" Target="/ppt/charts/chart3.xml"/><Relationship Id="rId3" Type="http://schemas.openxmlformats.org/officeDocument/2006/relationships/slideLayout" Target="../slideLayouts/slideLayout1.xml"/><Relationship Id="rId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chart" Target="/ppt/charts/chart4.xml"/><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502920" y="365760"/>
            <a:ext cx="402336" cy="402336"/>
          </a:xfrm>
          <a:prstGeom prst="roundRect">
            <a:avLst>
              <a:gd name="adj" fmla="val 22727"/>
            </a:avLst>
          </a:prstGeom>
          <a:solidFill>
            <a:srgbClr val="C51230"/>
          </a:solidFill>
          <a:ln w="12700">
            <a:solidFill>
              <a:srgbClr val="C51230"/>
            </a:solidFill>
            <a:prstDash val="solid"/>
          </a:ln>
        </p:spPr>
      </p:sp>
      <p:sp>
        <p:nvSpPr>
          <p:cNvPr id="3" name="Text 1"/>
          <p:cNvSpPr txBox="1"/>
          <p:nvPr/>
        </p:nvSpPr>
        <p:spPr>
          <a:xfrm>
            <a:off x="502920" y="365760"/>
            <a:ext cx="402336"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&amp;</a:t>
            </a:r>
            <a:endParaRPr lang="en-US" sz="1900" dirty="0"/>
          </a:p>
        </p:txBody>
      </p:sp>
      <p:sp>
        <p:nvSpPr>
          <p:cNvPr id="4" name="Text 2"/>
          <p:cNvSpPr txBox="1"/>
          <p:nvPr/>
        </p:nvSpPr>
        <p:spPr>
          <a:xfrm>
            <a:off x="1051560" y="365760"/>
            <a:ext cx="6400800" cy="402336"/>
          </a:xfrm>
          <a:prstGeom prst="rect">
            <a:avLst/>
          </a:prstGeom>
          <a:noFill/>
          <a:ln/>
        </p:spPr>
        <p:txBody>
          <a:bodyPr wrap="square" lIns="0" tIns="0" rIns="0" bIns="0" rtlCol="0" anchor="ctr"/>
          <a:lstStyle/>
          <a:p>
            <a:pPr indent="0" marL="0">
              <a:buNone/>
            </a:pPr>
            <a:r>
              <a:rPr lang="en-US" sz="950" b="1" spc="220" kern="0" dirty="0">
                <a:solidFill>
                  <a:srgbClr val="8A9299"/>
                </a:solidFill>
                <a:latin typeface="Segoe UI" pitchFamily="34" charset="0"/>
                <a:ea typeface="Segoe UI" pitchFamily="34" charset="-122"/>
                <a:cs typeface="Segoe UI" pitchFamily="34" charset="-120"/>
              </a:rPr>
              <a:t>PRIME  |  H2 2026 ROI PLAN  |  INTERNAL</a:t>
            </a:r>
            <a:endParaRPr lang="en-US" sz="950" dirty="0"/>
          </a:p>
        </p:txBody>
      </p:sp>
      <p:sp>
        <p:nvSpPr>
          <p:cNvPr id="5" name="Text 3"/>
          <p:cNvSpPr txBox="1"/>
          <p:nvPr/>
        </p:nvSpPr>
        <p:spPr>
          <a:xfrm>
            <a:off x="11183112" y="365760"/>
            <a:ext cx="502920" cy="402336"/>
          </a:xfrm>
          <a:prstGeom prst="rect">
            <a:avLst/>
          </a:prstGeom>
          <a:noFill/>
          <a:ln/>
        </p:spPr>
        <p:txBody>
          <a:bodyPr wrap="square" lIns="0" tIns="0" rIns="0" bIns="0" rtlCol="0" anchor="ctr"/>
          <a:lstStyle/>
          <a:p>
            <a:pPr algn="r" indent="0" marL="0">
              <a:buNone/>
            </a:pPr>
            <a:r>
              <a:rPr lang="en-US" sz="1100" b="1" dirty="0">
                <a:solidFill>
                  <a:srgbClr val="4A5259"/>
                </a:solidFill>
                <a:latin typeface="Segoe UI" pitchFamily="34" charset="0"/>
                <a:ea typeface="Segoe UI" pitchFamily="34" charset="-122"/>
                <a:cs typeface="Segoe UI" pitchFamily="34" charset="-120"/>
              </a:rPr>
              <a:t>01</a:t>
            </a:r>
            <a:endParaRPr lang="en-US" sz="1100" dirty="0"/>
          </a:p>
        </p:txBody>
      </p:sp>
      <p:sp>
        <p:nvSpPr>
          <p:cNvPr id="6" name="Text 4"/>
          <p:cNvSpPr txBox="1"/>
          <p:nvPr/>
        </p:nvSpPr>
        <p:spPr>
          <a:xfrm>
            <a:off x="502920" y="896112"/>
            <a:ext cx="11000232" cy="713232"/>
          </a:xfrm>
          <a:prstGeom prst="rect">
            <a:avLst/>
          </a:prstGeom>
          <a:noFill/>
          <a:ln/>
        </p:spPr>
        <p:txBody>
          <a:bodyPr wrap="square" lIns="0" tIns="0" rIns="0" bIns="0" rtlCol="0" anchor="t"/>
          <a:lstStyle/>
          <a:p>
            <a:pPr indent="0" marL="0">
              <a:lnSpc>
                <a:spcPct val="95000"/>
              </a:lnSpc>
              <a:buNone/>
            </a:pPr>
            <a:r>
              <a:rPr lang="en-US" sz="2100" b="1" dirty="0">
                <a:solidFill>
                  <a:srgbClr val="FFFFFF"/>
                </a:solidFill>
                <a:latin typeface="Segoe UI" pitchFamily="34" charset="0"/>
                <a:ea typeface="Segoe UI" pitchFamily="34" charset="-122"/>
                <a:cs typeface="Segoe UI" pitchFamily="34" charset="-120"/>
              </a:rPr>
              <a:t>H2 must add AED 22.0M — a 39% ROI step-up in six months</a:t>
            </a:r>
            <a:endParaRPr lang="en-US" sz="2100" dirty="0"/>
          </a:p>
        </p:txBody>
      </p:sp>
      <p:sp>
        <p:nvSpPr>
          <p:cNvPr id="7" name="Text 5"/>
          <p:cNvSpPr txBox="1"/>
          <p:nvPr/>
        </p:nvSpPr>
        <p:spPr>
          <a:xfrm>
            <a:off x="502920" y="1609344"/>
            <a:ext cx="11000232" cy="384048"/>
          </a:xfrm>
          <a:prstGeom prst="rect">
            <a:avLst/>
          </a:prstGeom>
          <a:noFill/>
          <a:ln/>
        </p:spPr>
        <p:txBody>
          <a:bodyPr wrap="square" lIns="0" tIns="0" rIns="0" bIns="0" rtlCol="0" anchor="t"/>
          <a:lstStyle/>
          <a:p>
            <a:pPr indent="0" marL="0">
              <a:lnSpc>
                <a:spcPct val="95000"/>
              </a:lnSpc>
              <a:buNone/>
            </a:pPr>
            <a:r>
              <a:rPr lang="en-US" sz="1100" dirty="0">
                <a:solidFill>
                  <a:srgbClr val="8A9299"/>
                </a:solidFill>
                <a:latin typeface="Segoe UI" pitchFamily="34" charset="0"/>
                <a:ea typeface="Segoe UI" pitchFamily="34" charset="-122"/>
                <a:cs typeface="Segoe UI" pitchFamily="34" charset="-120"/>
              </a:rPr>
              <a:t>Two engines carry the number: incremental annualised sales and validated revenue protection. Hiring, retention, productivity and CVM are the capacity that delivers them — not additional revenue lines.</a:t>
            </a:r>
            <a:endParaRPr lang="en-US" sz="1100" dirty="0"/>
          </a:p>
        </p:txBody>
      </p:sp>
      <p:sp>
        <p:nvSpPr>
          <p:cNvPr id="8" name="Text 6"/>
          <p:cNvSpPr txBox="1"/>
          <p:nvPr/>
        </p:nvSpPr>
        <p:spPr>
          <a:xfrm>
            <a:off x="502920" y="6437376"/>
            <a:ext cx="11183112" cy="274320"/>
          </a:xfrm>
          <a:prstGeom prst="rect">
            <a:avLst/>
          </a:prstGeom>
          <a:noFill/>
          <a:ln/>
        </p:spPr>
        <p:txBody>
          <a:bodyPr wrap="square" lIns="0" tIns="0" rIns="0" bIns="0" rtlCol="0" anchor="ctr"/>
          <a:lstStyle/>
          <a:p>
            <a:pPr indent="0" marL="0">
              <a:buNone/>
            </a:pPr>
            <a:r>
              <a:rPr lang="en-US" sz="780" i="1" dirty="0">
                <a:solidFill>
                  <a:srgbClr val="4A5259"/>
                </a:solidFill>
                <a:latin typeface="Segoe UI" pitchFamily="34" charset="0"/>
                <a:ea typeface="Segoe UI" pitchFamily="34" charset="-122"/>
                <a:cs typeface="Segoe UI" pitchFamily="34" charset="-120"/>
              </a:rPr>
              <a:t>ILLUSTRATIVE PLACEHOLDER DATA - replace with confirmed H1 2026 actuals and H2 2026 targets.  As of 26 August 2026.  AED millions.  ARR = MRC x 12; device value is one-time and is not annualised.</a:t>
            </a:r>
            <a:endParaRPr lang="en-US" sz="780" dirty="0"/>
          </a:p>
        </p:txBody>
      </p:sp>
      <p:sp>
        <p:nvSpPr>
          <p:cNvPr id="9" name="Shape 7"/>
          <p:cNvSpPr/>
          <p:nvPr/>
        </p:nvSpPr>
        <p:spPr>
          <a:xfrm>
            <a:off x="393192" y="5797296"/>
            <a:ext cx="7278624" cy="0"/>
          </a:xfrm>
          <a:prstGeom prst="line">
            <a:avLst/>
          </a:prstGeom>
          <a:noFill/>
          <a:ln w="12700">
            <a:solidFill>
              <a:srgbClr val="343A40"/>
            </a:solidFill>
            <a:prstDash val="solid"/>
          </a:ln>
        </p:spPr>
      </p:sp>
      <p:sp>
        <p:nvSpPr>
          <p:cNvPr id="10" name="Shape 8"/>
          <p:cNvSpPr/>
          <p:nvPr/>
        </p:nvSpPr>
        <p:spPr>
          <a:xfrm>
            <a:off x="713232" y="3621347"/>
            <a:ext cx="1408176" cy="2175949"/>
          </a:xfrm>
          <a:prstGeom prst="rect">
            <a:avLst/>
          </a:prstGeom>
          <a:solidFill>
            <a:srgbClr val="4A5259"/>
          </a:solidFill>
          <a:ln w="12700">
            <a:solidFill>
              <a:srgbClr val="4A5259"/>
            </a:solidFill>
            <a:prstDash val="solid"/>
          </a:ln>
        </p:spPr>
      </p:sp>
      <p:sp>
        <p:nvSpPr>
          <p:cNvPr id="11" name="Text 9"/>
          <p:cNvSpPr txBox="1"/>
          <p:nvPr/>
        </p:nvSpPr>
        <p:spPr>
          <a:xfrm>
            <a:off x="576072" y="3292163"/>
            <a:ext cx="1682496" cy="292608"/>
          </a:xfrm>
          <a:prstGeom prst="rect">
            <a:avLst/>
          </a:prstGeom>
          <a:noFill/>
          <a:ln/>
        </p:spPr>
        <p:txBody>
          <a:bodyPr wrap="square" lIns="0" tIns="0" rIns="0" bIns="0" rtlCol="0" anchor="b"/>
          <a:lstStyle/>
          <a:p>
            <a:pPr algn="ctr" indent="0" marL="0">
              <a:buNone/>
            </a:pPr>
            <a:r>
              <a:rPr lang="en-US" sz="1500" b="1" dirty="0">
                <a:solidFill>
                  <a:srgbClr val="FFFFFF"/>
                </a:solidFill>
                <a:latin typeface="Segoe UI" pitchFamily="34" charset="0"/>
                <a:ea typeface="Segoe UI" pitchFamily="34" charset="-122"/>
                <a:cs typeface="Segoe UI" pitchFamily="34" charset="-120"/>
              </a:rPr>
              <a:t>56.5</a:t>
            </a:r>
            <a:endParaRPr lang="en-US" sz="1500" dirty="0"/>
          </a:p>
        </p:txBody>
      </p:sp>
      <p:sp>
        <p:nvSpPr>
          <p:cNvPr id="12" name="Text 10"/>
          <p:cNvSpPr txBox="1"/>
          <p:nvPr/>
        </p:nvSpPr>
        <p:spPr>
          <a:xfrm>
            <a:off x="438912" y="5888736"/>
            <a:ext cx="1956816" cy="420624"/>
          </a:xfrm>
          <a:prstGeom prst="rect">
            <a:avLst/>
          </a:prstGeom>
          <a:noFill/>
          <a:ln/>
        </p:spPr>
        <p:txBody>
          <a:bodyPr wrap="square" lIns="0" tIns="0" rIns="0" bIns="0" rtlCol="0" anchor="t"/>
          <a:lstStyle/>
          <a:p>
            <a:pPr algn="ctr" indent="0" marL="0">
              <a:buNone/>
            </a:pPr>
            <a:r>
              <a:rPr lang="en-US" sz="1000" dirty="0">
                <a:solidFill>
                  <a:srgbClr val="8A9299"/>
                </a:solidFill>
                <a:latin typeface="Segoe UI" pitchFamily="34" charset="0"/>
                <a:ea typeface="Segoe UI" pitchFamily="34" charset="-122"/>
                <a:cs typeface="Segoe UI" pitchFamily="34" charset="-120"/>
              </a:rPr>
              <a:t>H1 2026 actual</a:t>
            </a:r>
            <a:endParaRPr lang="en-US" sz="1000" dirty="0"/>
          </a:p>
        </p:txBody>
      </p:sp>
      <p:sp>
        <p:nvSpPr>
          <p:cNvPr id="13" name="Shape 11"/>
          <p:cNvSpPr/>
          <p:nvPr/>
        </p:nvSpPr>
        <p:spPr>
          <a:xfrm>
            <a:off x="2121408" y="3621347"/>
            <a:ext cx="457200" cy="0"/>
          </a:xfrm>
          <a:prstGeom prst="line">
            <a:avLst/>
          </a:prstGeom>
          <a:noFill/>
          <a:ln w="12700">
            <a:solidFill>
              <a:srgbClr val="3D444B"/>
            </a:solidFill>
            <a:prstDash val="dash"/>
          </a:ln>
        </p:spPr>
      </p:sp>
      <p:sp>
        <p:nvSpPr>
          <p:cNvPr id="14" name="Shape 12"/>
          <p:cNvSpPr/>
          <p:nvPr/>
        </p:nvSpPr>
        <p:spPr>
          <a:xfrm>
            <a:off x="2578608" y="3024405"/>
            <a:ext cx="1408176" cy="596942"/>
          </a:xfrm>
          <a:prstGeom prst="rect">
            <a:avLst/>
          </a:prstGeom>
          <a:solidFill>
            <a:srgbClr val="E8112D"/>
          </a:solidFill>
          <a:ln w="12700">
            <a:solidFill>
              <a:srgbClr val="E8112D"/>
            </a:solidFill>
            <a:prstDash val="solid"/>
          </a:ln>
        </p:spPr>
      </p:sp>
      <p:sp>
        <p:nvSpPr>
          <p:cNvPr id="15" name="Text 13"/>
          <p:cNvSpPr txBox="1"/>
          <p:nvPr/>
        </p:nvSpPr>
        <p:spPr>
          <a:xfrm>
            <a:off x="2441448" y="2695221"/>
            <a:ext cx="1682496" cy="292608"/>
          </a:xfrm>
          <a:prstGeom prst="rect">
            <a:avLst/>
          </a:prstGeom>
          <a:noFill/>
          <a:ln/>
        </p:spPr>
        <p:txBody>
          <a:bodyPr wrap="square" lIns="0" tIns="0" rIns="0" bIns="0" rtlCol="0" anchor="b"/>
          <a:lstStyle/>
          <a:p>
            <a:pPr algn="ctr" indent="0" marL="0">
              <a:buNone/>
            </a:pPr>
            <a:r>
              <a:rPr lang="en-US" sz="1500" b="1" dirty="0">
                <a:solidFill>
                  <a:srgbClr val="FFFFFF"/>
                </a:solidFill>
                <a:latin typeface="Segoe UI" pitchFamily="34" charset="0"/>
                <a:ea typeface="Segoe UI" pitchFamily="34" charset="-122"/>
                <a:cs typeface="Segoe UI" pitchFamily="34" charset="-120"/>
              </a:rPr>
              <a:t>+15.5</a:t>
            </a:r>
            <a:endParaRPr lang="en-US" sz="1500" dirty="0"/>
          </a:p>
        </p:txBody>
      </p:sp>
      <p:sp>
        <p:nvSpPr>
          <p:cNvPr id="16" name="Text 14"/>
          <p:cNvSpPr txBox="1"/>
          <p:nvPr/>
        </p:nvSpPr>
        <p:spPr>
          <a:xfrm>
            <a:off x="2304288" y="5888736"/>
            <a:ext cx="1956816" cy="420624"/>
          </a:xfrm>
          <a:prstGeom prst="rect">
            <a:avLst/>
          </a:prstGeom>
          <a:noFill/>
          <a:ln/>
        </p:spPr>
        <p:txBody>
          <a:bodyPr wrap="square" lIns="0" tIns="0" rIns="0" bIns="0" rtlCol="0" anchor="t"/>
          <a:lstStyle/>
          <a:p>
            <a:pPr algn="ctr" indent="0" marL="0">
              <a:buNone/>
            </a:pPr>
            <a:r>
              <a:rPr lang="en-US" sz="1000" dirty="0">
                <a:solidFill>
                  <a:srgbClr val="8A9299"/>
                </a:solidFill>
                <a:latin typeface="Segoe UI" pitchFamily="34" charset="0"/>
                <a:ea typeface="Segoe UI" pitchFamily="34" charset="-122"/>
                <a:cs typeface="Segoe UI" pitchFamily="34" charset="-120"/>
              </a:rPr>
              <a:t>Incremental sales</a:t>
            </a:r>
            <a:endParaRPr lang="en-US" sz="1000" dirty="0"/>
          </a:p>
        </p:txBody>
      </p:sp>
      <p:sp>
        <p:nvSpPr>
          <p:cNvPr id="17" name="Shape 15"/>
          <p:cNvSpPr/>
          <p:nvPr/>
        </p:nvSpPr>
        <p:spPr>
          <a:xfrm>
            <a:off x="3986784" y="3024405"/>
            <a:ext cx="457200" cy="0"/>
          </a:xfrm>
          <a:prstGeom prst="line">
            <a:avLst/>
          </a:prstGeom>
          <a:noFill/>
          <a:ln w="12700">
            <a:solidFill>
              <a:srgbClr val="3D444B"/>
            </a:solidFill>
            <a:prstDash val="dash"/>
          </a:ln>
        </p:spPr>
      </p:sp>
      <p:sp>
        <p:nvSpPr>
          <p:cNvPr id="18" name="Shape 16"/>
          <p:cNvSpPr/>
          <p:nvPr/>
        </p:nvSpPr>
        <p:spPr>
          <a:xfrm>
            <a:off x="4443984" y="2774074"/>
            <a:ext cx="1408176" cy="250330"/>
          </a:xfrm>
          <a:prstGeom prst="rect">
            <a:avLst/>
          </a:prstGeom>
          <a:solidFill>
            <a:srgbClr val="F2730A"/>
          </a:solidFill>
          <a:ln w="12700">
            <a:solidFill>
              <a:srgbClr val="F2730A"/>
            </a:solidFill>
            <a:prstDash val="solid"/>
          </a:ln>
        </p:spPr>
      </p:sp>
      <p:sp>
        <p:nvSpPr>
          <p:cNvPr id="19" name="Text 17"/>
          <p:cNvSpPr txBox="1"/>
          <p:nvPr/>
        </p:nvSpPr>
        <p:spPr>
          <a:xfrm>
            <a:off x="4306824" y="2444890"/>
            <a:ext cx="1682496" cy="292608"/>
          </a:xfrm>
          <a:prstGeom prst="rect">
            <a:avLst/>
          </a:prstGeom>
          <a:noFill/>
          <a:ln/>
        </p:spPr>
        <p:txBody>
          <a:bodyPr wrap="square" lIns="0" tIns="0" rIns="0" bIns="0" rtlCol="0" anchor="b"/>
          <a:lstStyle/>
          <a:p>
            <a:pPr algn="ctr" indent="0" marL="0">
              <a:buNone/>
            </a:pPr>
            <a:r>
              <a:rPr lang="en-US" sz="1500" b="1" dirty="0">
                <a:solidFill>
                  <a:srgbClr val="FFFFFF"/>
                </a:solidFill>
                <a:latin typeface="Segoe UI" pitchFamily="34" charset="0"/>
                <a:ea typeface="Segoe UI" pitchFamily="34" charset="-122"/>
                <a:cs typeface="Segoe UI" pitchFamily="34" charset="-120"/>
              </a:rPr>
              <a:t>+6.5</a:t>
            </a:r>
            <a:endParaRPr lang="en-US" sz="1500" dirty="0"/>
          </a:p>
        </p:txBody>
      </p:sp>
      <p:sp>
        <p:nvSpPr>
          <p:cNvPr id="20" name="Text 18"/>
          <p:cNvSpPr txBox="1"/>
          <p:nvPr/>
        </p:nvSpPr>
        <p:spPr>
          <a:xfrm>
            <a:off x="4169664" y="5888736"/>
            <a:ext cx="1956816" cy="420624"/>
          </a:xfrm>
          <a:prstGeom prst="rect">
            <a:avLst/>
          </a:prstGeom>
          <a:noFill/>
          <a:ln/>
        </p:spPr>
        <p:txBody>
          <a:bodyPr wrap="square" lIns="0" tIns="0" rIns="0" bIns="0" rtlCol="0" anchor="t"/>
          <a:lstStyle/>
          <a:p>
            <a:pPr algn="ctr" indent="0" marL="0">
              <a:buNone/>
            </a:pPr>
            <a:r>
              <a:rPr lang="en-US" sz="1000" dirty="0">
                <a:solidFill>
                  <a:srgbClr val="8A9299"/>
                </a:solidFill>
                <a:latin typeface="Segoe UI" pitchFamily="34" charset="0"/>
                <a:ea typeface="Segoe UI" pitchFamily="34" charset="-122"/>
                <a:cs typeface="Segoe UI" pitchFamily="34" charset="-120"/>
              </a:rPr>
              <a:t>Revenue protection</a:t>
            </a:r>
            <a:endParaRPr lang="en-US" sz="1000" dirty="0"/>
          </a:p>
        </p:txBody>
      </p:sp>
      <p:sp>
        <p:nvSpPr>
          <p:cNvPr id="21" name="Shape 19"/>
          <p:cNvSpPr/>
          <p:nvPr/>
        </p:nvSpPr>
        <p:spPr>
          <a:xfrm>
            <a:off x="5852160" y="2774074"/>
            <a:ext cx="457200" cy="0"/>
          </a:xfrm>
          <a:prstGeom prst="line">
            <a:avLst/>
          </a:prstGeom>
          <a:noFill/>
          <a:ln w="12700">
            <a:solidFill>
              <a:srgbClr val="3D444B"/>
            </a:solidFill>
            <a:prstDash val="dash"/>
          </a:ln>
        </p:spPr>
      </p:sp>
      <p:sp>
        <p:nvSpPr>
          <p:cNvPr id="22" name="Shape 20"/>
          <p:cNvSpPr/>
          <p:nvPr/>
        </p:nvSpPr>
        <p:spPr>
          <a:xfrm>
            <a:off x="6309360" y="2774074"/>
            <a:ext cx="1408176" cy="3023222"/>
          </a:xfrm>
          <a:prstGeom prst="rect">
            <a:avLst/>
          </a:prstGeom>
          <a:solidFill>
            <a:srgbClr val="C51230"/>
          </a:solidFill>
          <a:ln w="12700">
            <a:solidFill>
              <a:srgbClr val="C51230"/>
            </a:solidFill>
            <a:prstDash val="solid"/>
          </a:ln>
        </p:spPr>
      </p:sp>
      <p:sp>
        <p:nvSpPr>
          <p:cNvPr id="23" name="Text 21"/>
          <p:cNvSpPr txBox="1"/>
          <p:nvPr/>
        </p:nvSpPr>
        <p:spPr>
          <a:xfrm>
            <a:off x="6172200" y="2444890"/>
            <a:ext cx="1682496" cy="292608"/>
          </a:xfrm>
          <a:prstGeom prst="rect">
            <a:avLst/>
          </a:prstGeom>
          <a:noFill/>
          <a:ln/>
        </p:spPr>
        <p:txBody>
          <a:bodyPr wrap="square" lIns="0" tIns="0" rIns="0" bIns="0" rtlCol="0" anchor="b"/>
          <a:lstStyle/>
          <a:p>
            <a:pPr algn="ctr" indent="0" marL="0">
              <a:buNone/>
            </a:pPr>
            <a:r>
              <a:rPr lang="en-US" sz="1500" b="1" dirty="0">
                <a:solidFill>
                  <a:srgbClr val="FFFFFF"/>
                </a:solidFill>
                <a:latin typeface="Segoe UI" pitchFamily="34" charset="0"/>
                <a:ea typeface="Segoe UI" pitchFamily="34" charset="-122"/>
                <a:cs typeface="Segoe UI" pitchFamily="34" charset="-120"/>
              </a:rPr>
              <a:t>78.5</a:t>
            </a:r>
            <a:endParaRPr lang="en-US" sz="1500" dirty="0"/>
          </a:p>
        </p:txBody>
      </p:sp>
      <p:sp>
        <p:nvSpPr>
          <p:cNvPr id="24" name="Text 22"/>
          <p:cNvSpPr txBox="1"/>
          <p:nvPr/>
        </p:nvSpPr>
        <p:spPr>
          <a:xfrm>
            <a:off x="6035040" y="5888736"/>
            <a:ext cx="1956816" cy="420624"/>
          </a:xfrm>
          <a:prstGeom prst="rect">
            <a:avLst/>
          </a:prstGeom>
          <a:noFill/>
          <a:ln/>
        </p:spPr>
        <p:txBody>
          <a:bodyPr wrap="square" lIns="0" tIns="0" rIns="0" bIns="0" rtlCol="0" anchor="t"/>
          <a:lstStyle/>
          <a:p>
            <a:pPr algn="ctr" indent="0" marL="0">
              <a:buNone/>
            </a:pPr>
            <a:r>
              <a:rPr lang="en-US" sz="1000" dirty="0">
                <a:solidFill>
                  <a:srgbClr val="8A9299"/>
                </a:solidFill>
                <a:latin typeface="Segoe UI" pitchFamily="34" charset="0"/>
                <a:ea typeface="Segoe UI" pitchFamily="34" charset="-122"/>
                <a:cs typeface="Segoe UI" pitchFamily="34" charset="-120"/>
              </a:rPr>
              <a:t>H2 2026 target</a:t>
            </a:r>
            <a:endParaRPr lang="en-US" sz="1000" dirty="0"/>
          </a:p>
        </p:txBody>
      </p:sp>
      <p:sp>
        <p:nvSpPr>
          <p:cNvPr id="25" name="Text 23"/>
          <p:cNvSpPr txBox="1"/>
          <p:nvPr/>
        </p:nvSpPr>
        <p:spPr>
          <a:xfrm>
            <a:off x="438912" y="2029968"/>
            <a:ext cx="6949440" cy="274320"/>
          </a:xfrm>
          <a:prstGeom prst="rect">
            <a:avLst/>
          </a:prstGeom>
          <a:noFill/>
          <a:ln/>
        </p:spPr>
        <p:txBody>
          <a:bodyPr wrap="square" lIns="0" tIns="0" rIns="0" bIns="0" rtlCol="0" anchor="ctr"/>
          <a:lstStyle/>
          <a:p>
            <a:pPr indent="0" marL="0">
              <a:buNone/>
            </a:pPr>
            <a:r>
              <a:rPr lang="en-US" sz="950" b="1" spc="140" kern="0" dirty="0">
                <a:solidFill>
                  <a:srgbClr val="4A5259"/>
                </a:solidFill>
                <a:latin typeface="Segoe UI" pitchFamily="34" charset="0"/>
                <a:ea typeface="Segoe UI" pitchFamily="34" charset="-122"/>
                <a:cs typeface="Segoe UI" pitchFamily="34" charset="-120"/>
              </a:rPr>
              <a:t>Bridge from H1 2026 actual to H2 2026 target  ·  AED millions</a:t>
            </a:r>
            <a:endParaRPr lang="en-US" sz="950" dirty="0"/>
          </a:p>
        </p:txBody>
      </p:sp>
      <p:sp>
        <p:nvSpPr>
          <p:cNvPr id="26" name="Shape 24"/>
          <p:cNvSpPr/>
          <p:nvPr/>
        </p:nvSpPr>
        <p:spPr>
          <a:xfrm>
            <a:off x="8275320" y="2304288"/>
            <a:ext cx="3410712" cy="822960"/>
          </a:xfrm>
          <a:prstGeom prst="roundRect">
            <a:avLst>
              <a:gd name="adj" fmla="val 6667"/>
            </a:avLst>
          </a:prstGeom>
          <a:solidFill>
            <a:srgbClr val="22262B"/>
          </a:solidFill>
          <a:ln w="12700">
            <a:solidFill>
              <a:srgbClr val="2E3338"/>
            </a:solidFill>
            <a:prstDash val="solid"/>
          </a:ln>
        </p:spPr>
      </p:sp>
      <p:sp>
        <p:nvSpPr>
          <p:cNvPr id="27" name="Shape 25"/>
          <p:cNvSpPr/>
          <p:nvPr/>
        </p:nvSpPr>
        <p:spPr>
          <a:xfrm>
            <a:off x="8275320" y="2304288"/>
            <a:ext cx="50292" cy="822960"/>
          </a:xfrm>
          <a:prstGeom prst="rect">
            <a:avLst/>
          </a:prstGeom>
          <a:solidFill>
            <a:srgbClr val="E8112D"/>
          </a:solidFill>
          <a:ln w="12700">
            <a:solidFill>
              <a:srgbClr val="E8112D"/>
            </a:solidFill>
            <a:prstDash val="solid"/>
          </a:ln>
        </p:spPr>
      </p:sp>
      <p:sp>
        <p:nvSpPr>
          <p:cNvPr id="28" name="Text 26"/>
          <p:cNvSpPr txBox="1"/>
          <p:nvPr/>
        </p:nvSpPr>
        <p:spPr>
          <a:xfrm>
            <a:off x="8467344" y="2359152"/>
            <a:ext cx="1783080" cy="713232"/>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AED 22.0M</a:t>
            </a:r>
            <a:endParaRPr lang="en-US" sz="1700" dirty="0"/>
          </a:p>
        </p:txBody>
      </p:sp>
      <p:sp>
        <p:nvSpPr>
          <p:cNvPr id="29" name="Text 27"/>
          <p:cNvSpPr txBox="1"/>
          <p:nvPr/>
        </p:nvSpPr>
        <p:spPr>
          <a:xfrm>
            <a:off x="10222992" y="2359152"/>
            <a:ext cx="1417320" cy="713232"/>
          </a:xfrm>
          <a:prstGeom prst="rect">
            <a:avLst/>
          </a:prstGeom>
          <a:noFill/>
          <a:ln/>
        </p:spPr>
        <p:txBody>
          <a:bodyPr wrap="square" lIns="0" tIns="0" rIns="0" bIns="0" rtlCol="0" anchor="ctr"/>
          <a:lstStyle/>
          <a:p>
            <a:pPr indent="0" marL="0">
              <a:lnSpc>
                <a:spcPct val="95000"/>
              </a:lnSpc>
              <a:buNone/>
            </a:pPr>
            <a:r>
              <a:rPr lang="en-US" sz="800" dirty="0">
                <a:solidFill>
                  <a:srgbClr val="8A9299"/>
                </a:solidFill>
                <a:latin typeface="Segoe UI" pitchFamily="34" charset="0"/>
                <a:ea typeface="Segoe UI" pitchFamily="34" charset="-122"/>
                <a:cs typeface="Segoe UI" pitchFamily="34" charset="-120"/>
              </a:rPr>
              <a:t>Incremental ROI revenue required in H2 2026</a:t>
            </a:r>
            <a:endParaRPr lang="en-US" sz="800" dirty="0"/>
          </a:p>
        </p:txBody>
      </p:sp>
      <p:sp>
        <p:nvSpPr>
          <p:cNvPr id="30" name="Shape 28"/>
          <p:cNvSpPr/>
          <p:nvPr/>
        </p:nvSpPr>
        <p:spPr>
          <a:xfrm>
            <a:off x="8275320" y="3236976"/>
            <a:ext cx="3410712" cy="822960"/>
          </a:xfrm>
          <a:prstGeom prst="roundRect">
            <a:avLst>
              <a:gd name="adj" fmla="val 6667"/>
            </a:avLst>
          </a:prstGeom>
          <a:solidFill>
            <a:srgbClr val="22262B"/>
          </a:solidFill>
          <a:ln w="12700">
            <a:solidFill>
              <a:srgbClr val="2E3338"/>
            </a:solidFill>
            <a:prstDash val="solid"/>
          </a:ln>
        </p:spPr>
      </p:sp>
      <p:sp>
        <p:nvSpPr>
          <p:cNvPr id="31" name="Shape 29"/>
          <p:cNvSpPr/>
          <p:nvPr/>
        </p:nvSpPr>
        <p:spPr>
          <a:xfrm>
            <a:off x="8275320" y="3236976"/>
            <a:ext cx="50292" cy="822960"/>
          </a:xfrm>
          <a:prstGeom prst="rect">
            <a:avLst/>
          </a:prstGeom>
          <a:solidFill>
            <a:srgbClr val="F2730A"/>
          </a:solidFill>
          <a:ln w="12700">
            <a:solidFill>
              <a:srgbClr val="F2730A"/>
            </a:solidFill>
            <a:prstDash val="solid"/>
          </a:ln>
        </p:spPr>
      </p:sp>
      <p:sp>
        <p:nvSpPr>
          <p:cNvPr id="32" name="Text 30"/>
          <p:cNvSpPr txBox="1"/>
          <p:nvPr/>
        </p:nvSpPr>
        <p:spPr>
          <a:xfrm>
            <a:off x="8467344" y="3291840"/>
            <a:ext cx="1783080" cy="713232"/>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+39%</a:t>
            </a:r>
            <a:endParaRPr lang="en-US" sz="1700" dirty="0"/>
          </a:p>
        </p:txBody>
      </p:sp>
      <p:sp>
        <p:nvSpPr>
          <p:cNvPr id="33" name="Text 31"/>
          <p:cNvSpPr txBox="1"/>
          <p:nvPr/>
        </p:nvSpPr>
        <p:spPr>
          <a:xfrm>
            <a:off x="10222992" y="3291840"/>
            <a:ext cx="1417320" cy="713232"/>
          </a:xfrm>
          <a:prstGeom prst="rect">
            <a:avLst/>
          </a:prstGeom>
          <a:noFill/>
          <a:ln/>
        </p:spPr>
        <p:txBody>
          <a:bodyPr wrap="square" lIns="0" tIns="0" rIns="0" bIns="0" rtlCol="0" anchor="ctr"/>
          <a:lstStyle/>
          <a:p>
            <a:pPr indent="0" marL="0">
              <a:lnSpc>
                <a:spcPct val="95000"/>
              </a:lnSpc>
              <a:buNone/>
            </a:pPr>
            <a:r>
              <a:rPr lang="en-US" sz="800" dirty="0">
                <a:solidFill>
                  <a:srgbClr val="8A9299"/>
                </a:solidFill>
                <a:latin typeface="Segoe UI" pitchFamily="34" charset="0"/>
                <a:ea typeface="Segoe UI" pitchFamily="34" charset="-122"/>
                <a:cs typeface="Segoe UI" pitchFamily="34" charset="-120"/>
              </a:rPr>
              <a:t>Step-up on the H1 base of AED 56.5M</a:t>
            </a:r>
            <a:endParaRPr lang="en-US" sz="800" dirty="0"/>
          </a:p>
        </p:txBody>
      </p:sp>
      <p:sp>
        <p:nvSpPr>
          <p:cNvPr id="34" name="Shape 32"/>
          <p:cNvSpPr/>
          <p:nvPr/>
        </p:nvSpPr>
        <p:spPr>
          <a:xfrm>
            <a:off x="8275320" y="4169664"/>
            <a:ext cx="3410712" cy="822960"/>
          </a:xfrm>
          <a:prstGeom prst="roundRect">
            <a:avLst>
              <a:gd name="adj" fmla="val 6667"/>
            </a:avLst>
          </a:prstGeom>
          <a:solidFill>
            <a:srgbClr val="22262B"/>
          </a:solidFill>
          <a:ln w="12700">
            <a:solidFill>
              <a:srgbClr val="2E3338"/>
            </a:solidFill>
            <a:prstDash val="solid"/>
          </a:ln>
        </p:spPr>
      </p:sp>
      <p:sp>
        <p:nvSpPr>
          <p:cNvPr id="35" name="Shape 33"/>
          <p:cNvSpPr/>
          <p:nvPr/>
        </p:nvSpPr>
        <p:spPr>
          <a:xfrm>
            <a:off x="8275320" y="4169664"/>
            <a:ext cx="50292" cy="822960"/>
          </a:xfrm>
          <a:prstGeom prst="rect">
            <a:avLst/>
          </a:prstGeom>
          <a:solidFill>
            <a:srgbClr val="177F8C"/>
          </a:solidFill>
          <a:ln w="12700">
            <a:solidFill>
              <a:srgbClr val="177F8C"/>
            </a:solidFill>
            <a:prstDash val="solid"/>
          </a:ln>
        </p:spPr>
      </p:sp>
      <p:sp>
        <p:nvSpPr>
          <p:cNvPr id="36" name="Text 34"/>
          <p:cNvSpPr txBox="1"/>
          <p:nvPr/>
        </p:nvSpPr>
        <p:spPr>
          <a:xfrm>
            <a:off x="8467344" y="4224528"/>
            <a:ext cx="1783080" cy="713232"/>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+25%</a:t>
            </a:r>
            <a:endParaRPr lang="en-US" sz="1700" dirty="0"/>
          </a:p>
        </p:txBody>
      </p:sp>
      <p:sp>
        <p:nvSpPr>
          <p:cNvPr id="37" name="Text 35"/>
          <p:cNvSpPr txBox="1"/>
          <p:nvPr/>
        </p:nvSpPr>
        <p:spPr>
          <a:xfrm>
            <a:off x="10222992" y="4224528"/>
            <a:ext cx="1417320" cy="713232"/>
          </a:xfrm>
          <a:prstGeom prst="rect">
            <a:avLst/>
          </a:prstGeom>
          <a:noFill/>
          <a:ln/>
        </p:spPr>
        <p:txBody>
          <a:bodyPr wrap="square" lIns="0" tIns="0" rIns="0" bIns="0" rtlCol="0" anchor="ctr"/>
          <a:lstStyle/>
          <a:p>
            <a:pPr indent="0" marL="0">
              <a:lnSpc>
                <a:spcPct val="95000"/>
              </a:lnSpc>
              <a:buNone/>
            </a:pPr>
            <a:r>
              <a:rPr lang="en-US" sz="800" dirty="0">
                <a:solidFill>
                  <a:srgbClr val="8A9299"/>
                </a:solidFill>
                <a:latin typeface="Segoe UI" pitchFamily="34" charset="0"/>
                <a:ea typeface="Segoe UI" pitchFamily="34" charset="-122"/>
                <a:cs typeface="Segoe UI" pitchFamily="34" charset="-120"/>
              </a:rPr>
              <a:t>Required output per productive KAM per half</a:t>
            </a:r>
            <a:endParaRPr lang="en-US" sz="800" dirty="0"/>
          </a:p>
        </p:txBody>
      </p:sp>
      <p:sp>
        <p:nvSpPr>
          <p:cNvPr id="38" name="Shape 36"/>
          <p:cNvSpPr/>
          <p:nvPr/>
        </p:nvSpPr>
        <p:spPr>
          <a:xfrm>
            <a:off x="8275320" y="5102352"/>
            <a:ext cx="3410712" cy="822960"/>
          </a:xfrm>
          <a:prstGeom prst="roundRect">
            <a:avLst>
              <a:gd name="adj" fmla="val 6667"/>
            </a:avLst>
          </a:prstGeom>
          <a:solidFill>
            <a:srgbClr val="22262B"/>
          </a:solidFill>
          <a:ln w="12700">
            <a:solidFill>
              <a:srgbClr val="2E3338"/>
            </a:solidFill>
            <a:prstDash val="solid"/>
          </a:ln>
        </p:spPr>
      </p:sp>
      <p:sp>
        <p:nvSpPr>
          <p:cNvPr id="39" name="Shape 37"/>
          <p:cNvSpPr/>
          <p:nvPr/>
        </p:nvSpPr>
        <p:spPr>
          <a:xfrm>
            <a:off x="8275320" y="5102352"/>
            <a:ext cx="50292" cy="822960"/>
          </a:xfrm>
          <a:prstGeom prst="rect">
            <a:avLst/>
          </a:prstGeom>
          <a:solidFill>
            <a:srgbClr val="D8C3A5"/>
          </a:solidFill>
          <a:ln w="12700">
            <a:solidFill>
              <a:srgbClr val="D8C3A5"/>
            </a:solidFill>
            <a:prstDash val="solid"/>
          </a:ln>
        </p:spPr>
      </p:sp>
      <p:sp>
        <p:nvSpPr>
          <p:cNvPr id="40" name="Text 38"/>
          <p:cNvSpPr txBox="1"/>
          <p:nvPr/>
        </p:nvSpPr>
        <p:spPr>
          <a:xfrm>
            <a:off x="8467344" y="5157216"/>
            <a:ext cx="1783080" cy="713232"/>
          </a:xfrm>
          <a:prstGeom prst="rect">
            <a:avLst/>
          </a:prstGeom>
          <a:noFill/>
          <a:ln/>
        </p:spPr>
        <p:txBody>
          <a:bodyPr wrap="square" lIns="0" tIns="0" rIns="0" bIns="0" rtlCol="0" anchor="ctr"/>
          <a:lstStyle/>
          <a:p>
            <a:pPr indent="0" marL="0">
              <a:buNone/>
            </a:pPr>
            <a:r>
              <a:rPr lang="en-US" sz="1700" b="1" dirty="0">
                <a:solidFill>
                  <a:srgbClr val="FFFFFF"/>
                </a:solidFill>
                <a:latin typeface="Segoe UI" pitchFamily="34" charset="0"/>
                <a:ea typeface="Segoe UI" pitchFamily="34" charset="-122"/>
                <a:cs typeface="Segoe UI" pitchFamily="34" charset="-120"/>
              </a:rPr>
              <a:t>AED 84M</a:t>
            </a:r>
            <a:endParaRPr lang="en-US" sz="1700" dirty="0"/>
          </a:p>
        </p:txBody>
      </p:sp>
      <p:sp>
        <p:nvSpPr>
          <p:cNvPr id="41" name="Text 39"/>
          <p:cNvSpPr txBox="1"/>
          <p:nvPr/>
        </p:nvSpPr>
        <p:spPr>
          <a:xfrm>
            <a:off x="10222992" y="5157216"/>
            <a:ext cx="1417320" cy="713232"/>
          </a:xfrm>
          <a:prstGeom prst="rect">
            <a:avLst/>
          </a:prstGeom>
          <a:noFill/>
          <a:ln/>
        </p:spPr>
        <p:txBody>
          <a:bodyPr wrap="square" lIns="0" tIns="0" rIns="0" bIns="0" rtlCol="0" anchor="ctr"/>
          <a:lstStyle/>
          <a:p>
            <a:pPr indent="0" marL="0">
              <a:lnSpc>
                <a:spcPct val="95000"/>
              </a:lnSpc>
              <a:buNone/>
            </a:pPr>
            <a:r>
              <a:rPr lang="en-US" sz="800" dirty="0">
                <a:solidFill>
                  <a:srgbClr val="8A9299"/>
                </a:solidFill>
                <a:latin typeface="Segoe UI" pitchFamily="34" charset="0"/>
                <a:ea typeface="Segoe UI" pitchFamily="34" charset="-122"/>
                <a:cs typeface="Segoe UI" pitchFamily="34" charset="-120"/>
              </a:rPr>
              <a:t>Recurring base sitting in 16 unmanaged portfolios</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02920" y="365760"/>
            <a:ext cx="402336" cy="402336"/>
          </a:xfrm>
          <a:prstGeom prst="roundRect">
            <a:avLst>
              <a:gd name="adj" fmla="val 22727"/>
            </a:avLst>
          </a:prstGeom>
          <a:solidFill>
            <a:srgbClr val="C51230"/>
          </a:solidFill>
          <a:ln w="12700">
            <a:solidFill>
              <a:srgbClr val="C51230"/>
            </a:solidFill>
            <a:prstDash val="solid"/>
          </a:ln>
        </p:spPr>
      </p:sp>
      <p:sp>
        <p:nvSpPr>
          <p:cNvPr id="3" name="Text 1"/>
          <p:cNvSpPr txBox="1"/>
          <p:nvPr/>
        </p:nvSpPr>
        <p:spPr>
          <a:xfrm>
            <a:off x="502920" y="365760"/>
            <a:ext cx="402336"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&amp;</a:t>
            </a:r>
            <a:endParaRPr lang="en-US" sz="1900" dirty="0"/>
          </a:p>
        </p:txBody>
      </p:sp>
      <p:sp>
        <p:nvSpPr>
          <p:cNvPr id="4" name="Text 2"/>
          <p:cNvSpPr txBox="1"/>
          <p:nvPr/>
        </p:nvSpPr>
        <p:spPr>
          <a:xfrm>
            <a:off x="1051560" y="365760"/>
            <a:ext cx="6400800" cy="402336"/>
          </a:xfrm>
          <a:prstGeom prst="rect">
            <a:avLst/>
          </a:prstGeom>
          <a:noFill/>
          <a:ln/>
        </p:spPr>
        <p:txBody>
          <a:bodyPr wrap="square" lIns="0" tIns="0" rIns="0" bIns="0" rtlCol="0" anchor="ctr"/>
          <a:lstStyle/>
          <a:p>
            <a:pPr indent="0" marL="0">
              <a:buNone/>
            </a:pPr>
            <a:r>
              <a:rPr lang="en-US" sz="950" b="1" spc="220" kern="0" dirty="0">
                <a:solidFill>
                  <a:srgbClr val="4A5259"/>
                </a:solidFill>
                <a:latin typeface="Segoe UI" pitchFamily="34" charset="0"/>
                <a:ea typeface="Segoe UI" pitchFamily="34" charset="-122"/>
                <a:cs typeface="Segoe UI" pitchFamily="34" charset="-120"/>
              </a:rPr>
              <a:t>WHERE THE GROWTH COMES FROM</a:t>
            </a:r>
            <a:endParaRPr lang="en-US" sz="950" dirty="0"/>
          </a:p>
        </p:txBody>
      </p:sp>
      <p:sp>
        <p:nvSpPr>
          <p:cNvPr id="5" name="Text 3"/>
          <p:cNvSpPr txBox="1"/>
          <p:nvPr/>
        </p:nvSpPr>
        <p:spPr>
          <a:xfrm>
            <a:off x="11183112" y="365760"/>
            <a:ext cx="502920" cy="402336"/>
          </a:xfrm>
          <a:prstGeom prst="rect">
            <a:avLst/>
          </a:prstGeom>
          <a:noFill/>
          <a:ln/>
        </p:spPr>
        <p:txBody>
          <a:bodyPr wrap="square" lIns="0" tIns="0" rIns="0" bIns="0" rtlCol="0" anchor="ctr"/>
          <a:lstStyle/>
          <a:p>
            <a:pPr algn="r" indent="0" marL="0">
              <a:buNone/>
            </a:pPr>
            <a:r>
              <a:rPr lang="en-US" sz="1100" b="1" dirty="0">
                <a:solidFill>
                  <a:srgbClr val="8A9299"/>
                </a:solidFill>
                <a:latin typeface="Segoe UI" pitchFamily="34" charset="0"/>
                <a:ea typeface="Segoe UI" pitchFamily="34" charset="-122"/>
                <a:cs typeface="Segoe UI" pitchFamily="34" charset="-120"/>
              </a:rPr>
              <a:t>02</a:t>
            </a:r>
            <a:endParaRPr lang="en-US" sz="1100" dirty="0"/>
          </a:p>
        </p:txBody>
      </p:sp>
      <p:sp>
        <p:nvSpPr>
          <p:cNvPr id="6" name="Text 4"/>
          <p:cNvSpPr txBox="1"/>
          <p:nvPr/>
        </p:nvSpPr>
        <p:spPr>
          <a:xfrm>
            <a:off x="502920" y="896112"/>
            <a:ext cx="11000232" cy="713232"/>
          </a:xfrm>
          <a:prstGeom prst="rect">
            <a:avLst/>
          </a:prstGeom>
          <a:noFill/>
          <a:ln/>
        </p:spPr>
        <p:txBody>
          <a:bodyPr wrap="square" lIns="0" tIns="0" rIns="0" bIns="0" rtlCol="0" anchor="t"/>
          <a:lstStyle/>
          <a:p>
            <a:pPr indent="0" marL="0">
              <a:lnSpc>
                <a:spcPct val="95000"/>
              </a:lnSpc>
              <a:buNone/>
            </a:pPr>
            <a:r>
              <a:rPr lang="en-US" sz="2100" b="1" dirty="0">
                <a:solidFill>
                  <a:srgbClr val="1A1D21"/>
                </a:solidFill>
                <a:latin typeface="Segoe UI" pitchFamily="34" charset="0"/>
                <a:ea typeface="Segoe UI" pitchFamily="34" charset="-122"/>
                <a:cs typeface="Segoe UI" pitchFamily="34" charset="-120"/>
              </a:rPr>
              <a:t>Six levers close the AED 22.0M gap, each with one owner</a:t>
            </a:r>
            <a:endParaRPr lang="en-US" sz="2100" dirty="0"/>
          </a:p>
        </p:txBody>
      </p:sp>
      <p:sp>
        <p:nvSpPr>
          <p:cNvPr id="7" name="Text 5"/>
          <p:cNvSpPr txBox="1"/>
          <p:nvPr/>
        </p:nvSpPr>
        <p:spPr>
          <a:xfrm>
            <a:off x="502920" y="1609344"/>
            <a:ext cx="11000232" cy="384048"/>
          </a:xfrm>
          <a:prstGeom prst="rect">
            <a:avLst/>
          </a:prstGeom>
          <a:noFill/>
          <a:ln/>
        </p:spPr>
        <p:txBody>
          <a:bodyPr wrap="square" lIns="0" tIns="0" rIns="0" bIns="0" rtlCol="0" anchor="t"/>
          <a:lstStyle/>
          <a:p>
            <a:pPr indent="0" marL="0">
              <a:lnSpc>
                <a:spcPct val="95000"/>
              </a:lnSpc>
              <a:buNone/>
            </a:pPr>
            <a:r>
              <a:rPr lang="en-US" sz="1100" dirty="0">
                <a:solidFill>
                  <a:srgbClr val="4A5259"/>
                </a:solidFill>
                <a:latin typeface="Segoe UI" pitchFamily="34" charset="0"/>
                <a:ea typeface="Segoe UI" pitchFamily="34" charset="-122"/>
                <a:cs typeface="Segoe UI" pitchFamily="34" charset="-120"/>
              </a:rPr>
              <a:t>Sales engine AED 15.5M  ·  Protection engine AED 6.5M  ·  the contributions reconcile to the gap, with no lever counted twice.</a:t>
            </a:r>
            <a:endParaRPr lang="en-US" sz="1100" dirty="0"/>
          </a:p>
        </p:txBody>
      </p:sp>
      <p:sp>
        <p:nvSpPr>
          <p:cNvPr id="8" name="Text 6"/>
          <p:cNvSpPr txBox="1"/>
          <p:nvPr/>
        </p:nvSpPr>
        <p:spPr>
          <a:xfrm>
            <a:off x="502920" y="6437376"/>
            <a:ext cx="11183112" cy="274320"/>
          </a:xfrm>
          <a:prstGeom prst="rect">
            <a:avLst/>
          </a:prstGeom>
          <a:noFill/>
          <a:ln/>
        </p:spPr>
        <p:txBody>
          <a:bodyPr wrap="square" lIns="0" tIns="0" rIns="0" bIns="0" rtlCol="0" anchor="ctr"/>
          <a:lstStyle/>
          <a:p>
            <a:pPr indent="0" marL="0">
              <a:buNone/>
            </a:pPr>
            <a:r>
              <a:rPr lang="en-US" sz="780" i="1" dirty="0">
                <a:solidFill>
                  <a:srgbClr val="8A9299"/>
                </a:solidFill>
                <a:latin typeface="Segoe UI" pitchFamily="34" charset="0"/>
                <a:ea typeface="Segoe UI" pitchFamily="34" charset="-122"/>
                <a:cs typeface="Segoe UI" pitchFamily="34" charset="-120"/>
              </a:rPr>
              <a:t>ILLUSTRATIVE PLACEHOLDER DATA - replace with confirmed H1 2026 actuals and H2 2026 targets.  As of 26 August 2026.  AED millions.  ARR = MRC x 12; device value is one-time and is not annualised.</a:t>
            </a:r>
            <a:endParaRPr lang="en-US" sz="780" dirty="0"/>
          </a:p>
        </p:txBody>
      </p:sp>
      <p:graphicFrame>
        <p:nvGraphicFramePr>
          <p:cNvPr id="9" name="Chart 0" descr=""/>
          <p:cNvGraphicFramePr/>
          <p:nvPr/>
        </p:nvGraphicFramePr>
        <p:xfrm>
          <a:off x="502920" y="2011680"/>
          <a:ext cx="5623560" cy="4050792"/>
        </p:xfrm>
        <a:graphic xmlns:a="http://schemas.openxmlformats.org/drawingml/2006/main">
          <a:graphicData uri="http://schemas.openxmlformats.org/drawingml/2006/chart">
            <c:chart xmlns:c="http://schemas.openxmlformats.org/drawingml/2006/chart" r:id="rId1"/>
          </a:graphicData>
        </a:graphic>
      </p:graphicFrame>
      <p:sp>
        <p:nvSpPr>
          <p:cNvPr id="10" name="Shape 7"/>
          <p:cNvSpPr/>
          <p:nvPr/>
        </p:nvSpPr>
        <p:spPr>
          <a:xfrm>
            <a:off x="6446520" y="2029968"/>
            <a:ext cx="5239512" cy="621792"/>
          </a:xfrm>
          <a:prstGeom prst="rect">
            <a:avLst/>
          </a:prstGeom>
          <a:solidFill>
            <a:srgbClr val="FFFFFF"/>
          </a:solidFill>
          <a:ln w="12700">
            <a:solidFill>
              <a:srgbClr val="E3E6E9"/>
            </a:solidFill>
            <a:prstDash val="solid"/>
          </a:ln>
        </p:spPr>
      </p:sp>
      <p:sp>
        <p:nvSpPr>
          <p:cNvPr id="11" name="Shape 8"/>
          <p:cNvSpPr/>
          <p:nvPr/>
        </p:nvSpPr>
        <p:spPr>
          <a:xfrm>
            <a:off x="6446520" y="2029968"/>
            <a:ext cx="45720" cy="621792"/>
          </a:xfrm>
          <a:prstGeom prst="rect">
            <a:avLst/>
          </a:prstGeom>
          <a:solidFill>
            <a:srgbClr val="E8112D"/>
          </a:solidFill>
          <a:ln w="12700">
            <a:solidFill>
              <a:srgbClr val="E8112D"/>
            </a:solidFill>
            <a:prstDash val="solid"/>
          </a:ln>
        </p:spPr>
      </p:sp>
      <p:sp>
        <p:nvSpPr>
          <p:cNvPr id="12" name="Text 9"/>
          <p:cNvSpPr txBox="1"/>
          <p:nvPr/>
        </p:nvSpPr>
        <p:spPr>
          <a:xfrm>
            <a:off x="6565392" y="2057400"/>
            <a:ext cx="384048" cy="548640"/>
          </a:xfrm>
          <a:prstGeom prst="rect">
            <a:avLst/>
          </a:prstGeom>
          <a:noFill/>
          <a:ln/>
        </p:spPr>
        <p:txBody>
          <a:bodyPr wrap="square" lIns="0" tIns="0" rIns="0" bIns="0" rtlCol="0" anchor="ctr"/>
          <a:lstStyle/>
          <a:p>
            <a:pPr indent="0" marL="0">
              <a:buNone/>
            </a:pPr>
            <a:r>
              <a:rPr lang="en-US" sz="1000" b="1" dirty="0">
                <a:solidFill>
                  <a:srgbClr val="E8112D"/>
                </a:solidFill>
                <a:latin typeface="Segoe UI" pitchFamily="34" charset="0"/>
                <a:ea typeface="Segoe UI" pitchFamily="34" charset="-122"/>
                <a:cs typeface="Segoe UI" pitchFamily="34" charset="-120"/>
              </a:rPr>
              <a:t>L1</a:t>
            </a:r>
            <a:endParaRPr lang="en-US" sz="1000" dirty="0"/>
          </a:p>
        </p:txBody>
      </p:sp>
      <p:sp>
        <p:nvSpPr>
          <p:cNvPr id="13" name="Text 10"/>
          <p:cNvSpPr txBox="1"/>
          <p:nvPr/>
        </p:nvSpPr>
        <p:spPr>
          <a:xfrm>
            <a:off x="6967728" y="2075688"/>
            <a:ext cx="3246120" cy="256032"/>
          </a:xfrm>
          <a:prstGeom prst="rect">
            <a:avLst/>
          </a:prstGeom>
          <a:noFill/>
          <a:ln/>
        </p:spPr>
        <p:txBody>
          <a:bodyPr wrap="square" lIns="0" tIns="0" rIns="0" bIns="0" rtlCol="0" anchor="ctr"/>
          <a:lstStyle/>
          <a:p>
            <a:pPr indent="0" marL="0">
              <a:buNone/>
            </a:pPr>
            <a:r>
              <a:rPr lang="en-US" sz="1050" b="1" dirty="0">
                <a:solidFill>
                  <a:srgbClr val="1A1D21"/>
                </a:solidFill>
                <a:latin typeface="Segoe UI" pitchFamily="34" charset="0"/>
                <a:ea typeface="Segoe UI" pitchFamily="34" charset="-122"/>
                <a:cs typeface="Segoe UI" pitchFamily="34" charset="-120"/>
              </a:rPr>
              <a:t>Sales engine &amp; pipeline discipline</a:t>
            </a:r>
            <a:endParaRPr lang="en-US" sz="1050" dirty="0"/>
          </a:p>
        </p:txBody>
      </p:sp>
      <p:sp>
        <p:nvSpPr>
          <p:cNvPr id="14" name="Text 11"/>
          <p:cNvSpPr txBox="1"/>
          <p:nvPr/>
        </p:nvSpPr>
        <p:spPr>
          <a:xfrm>
            <a:off x="6967728" y="2322576"/>
            <a:ext cx="3310128" cy="256032"/>
          </a:xfrm>
          <a:prstGeom prst="rect">
            <a:avLst/>
          </a:prstGeom>
          <a:noFill/>
          <a:ln/>
        </p:spPr>
        <p:txBody>
          <a:bodyPr wrap="square" lIns="0" tIns="0" rIns="0" bIns="0" rtlCol="0" anchor="ctr"/>
          <a:lstStyle/>
          <a:p>
            <a:pPr indent="0" marL="0">
              <a:buNone/>
            </a:pPr>
            <a:r>
              <a:rPr lang="en-US" sz="820" dirty="0">
                <a:solidFill>
                  <a:srgbClr val="8A9299"/>
                </a:solidFill>
                <a:latin typeface="Segoe UI" pitchFamily="34" charset="0"/>
                <a:ea typeface="Segoe UI" pitchFamily="34" charset="-122"/>
                <a:cs typeface="Segoe UI" pitchFamily="34" charset="-120"/>
              </a:rPr>
              <a:t>Directors (3)  ·  Coverage 3.0x; stale pipeline &lt;15%</a:t>
            </a:r>
            <a:endParaRPr lang="en-US" sz="820" dirty="0"/>
          </a:p>
        </p:txBody>
      </p:sp>
      <p:sp>
        <p:nvSpPr>
          <p:cNvPr id="15" name="Text 12"/>
          <p:cNvSpPr txBox="1"/>
          <p:nvPr/>
        </p:nvSpPr>
        <p:spPr>
          <a:xfrm>
            <a:off x="10332720" y="2057400"/>
            <a:ext cx="1280160" cy="548640"/>
          </a:xfrm>
          <a:prstGeom prst="rect">
            <a:avLst/>
          </a:prstGeom>
          <a:noFill/>
          <a:ln/>
        </p:spPr>
        <p:txBody>
          <a:bodyPr wrap="square" lIns="0" tIns="0" rIns="0" bIns="0" rtlCol="0" anchor="ctr"/>
          <a:lstStyle/>
          <a:p>
            <a:pPr algn="r" indent="0" marL="0">
              <a:buNone/>
            </a:pPr>
            <a:r>
              <a:rPr lang="en-US" sz="1600" b="1" dirty="0">
                <a:solidFill>
                  <a:srgbClr val="E8112D"/>
                </a:solidFill>
                <a:latin typeface="Segoe UI" pitchFamily="34" charset="0"/>
                <a:ea typeface="Segoe UI" pitchFamily="34" charset="-122"/>
                <a:cs typeface="Segoe UI" pitchFamily="34" charset="-120"/>
              </a:rPr>
              <a:t>+4.8</a:t>
            </a:r>
            <a:endParaRPr lang="en-US" sz="1600" dirty="0"/>
          </a:p>
        </p:txBody>
      </p:sp>
      <p:sp>
        <p:nvSpPr>
          <p:cNvPr id="16" name="Shape 13"/>
          <p:cNvSpPr/>
          <p:nvPr/>
        </p:nvSpPr>
        <p:spPr>
          <a:xfrm>
            <a:off x="6446520" y="2717597"/>
            <a:ext cx="5239512" cy="621792"/>
          </a:xfrm>
          <a:prstGeom prst="rect">
            <a:avLst/>
          </a:prstGeom>
          <a:solidFill>
            <a:srgbClr val="FFFFFF"/>
          </a:solidFill>
          <a:ln w="12700">
            <a:solidFill>
              <a:srgbClr val="E3E6E9"/>
            </a:solidFill>
            <a:prstDash val="solid"/>
          </a:ln>
        </p:spPr>
      </p:sp>
      <p:sp>
        <p:nvSpPr>
          <p:cNvPr id="17" name="Shape 14"/>
          <p:cNvSpPr/>
          <p:nvPr/>
        </p:nvSpPr>
        <p:spPr>
          <a:xfrm>
            <a:off x="6446520" y="2717597"/>
            <a:ext cx="45720" cy="621792"/>
          </a:xfrm>
          <a:prstGeom prst="rect">
            <a:avLst/>
          </a:prstGeom>
          <a:solidFill>
            <a:srgbClr val="E8112D"/>
          </a:solidFill>
          <a:ln w="12700">
            <a:solidFill>
              <a:srgbClr val="E8112D"/>
            </a:solidFill>
            <a:prstDash val="solid"/>
          </a:ln>
        </p:spPr>
      </p:sp>
      <p:sp>
        <p:nvSpPr>
          <p:cNvPr id="18" name="Text 15"/>
          <p:cNvSpPr txBox="1"/>
          <p:nvPr/>
        </p:nvSpPr>
        <p:spPr>
          <a:xfrm>
            <a:off x="6565392" y="2745029"/>
            <a:ext cx="384048" cy="548640"/>
          </a:xfrm>
          <a:prstGeom prst="rect">
            <a:avLst/>
          </a:prstGeom>
          <a:noFill/>
          <a:ln/>
        </p:spPr>
        <p:txBody>
          <a:bodyPr wrap="square" lIns="0" tIns="0" rIns="0" bIns="0" rtlCol="0" anchor="ctr"/>
          <a:lstStyle/>
          <a:p>
            <a:pPr indent="0" marL="0">
              <a:buNone/>
            </a:pPr>
            <a:r>
              <a:rPr lang="en-US" sz="1000" b="1" dirty="0">
                <a:solidFill>
                  <a:srgbClr val="E8112D"/>
                </a:solidFill>
                <a:latin typeface="Segoe UI" pitchFamily="34" charset="0"/>
                <a:ea typeface="Segoe UI" pitchFamily="34" charset="-122"/>
                <a:cs typeface="Segoe UI" pitchFamily="34" charset="-120"/>
              </a:rPr>
              <a:t>L6</a:t>
            </a:r>
            <a:endParaRPr lang="en-US" sz="1000" dirty="0"/>
          </a:p>
        </p:txBody>
      </p:sp>
      <p:sp>
        <p:nvSpPr>
          <p:cNvPr id="19" name="Text 16"/>
          <p:cNvSpPr txBox="1"/>
          <p:nvPr/>
        </p:nvSpPr>
        <p:spPr>
          <a:xfrm>
            <a:off x="6967728" y="2763317"/>
            <a:ext cx="3246120" cy="256032"/>
          </a:xfrm>
          <a:prstGeom prst="rect">
            <a:avLst/>
          </a:prstGeom>
          <a:noFill/>
          <a:ln/>
        </p:spPr>
        <p:txBody>
          <a:bodyPr wrap="square" lIns="0" tIns="0" rIns="0" bIns="0" rtlCol="0" anchor="ctr"/>
          <a:lstStyle/>
          <a:p>
            <a:pPr indent="0" marL="0">
              <a:buNone/>
            </a:pPr>
            <a:r>
              <a:rPr lang="en-US" sz="1050" b="1" dirty="0">
                <a:solidFill>
                  <a:srgbClr val="1A1D21"/>
                </a:solidFill>
                <a:latin typeface="Segoe UI" pitchFamily="34" charset="0"/>
                <a:ea typeface="Segoe UI" pitchFamily="34" charset="-122"/>
                <a:cs typeface="Segoe UI" pitchFamily="34" charset="-120"/>
              </a:rPr>
              <a:t>Digital campaigns &amp; CVM acceleration</a:t>
            </a:r>
            <a:endParaRPr lang="en-US" sz="1050" dirty="0"/>
          </a:p>
        </p:txBody>
      </p:sp>
      <p:sp>
        <p:nvSpPr>
          <p:cNvPr id="20" name="Text 17"/>
          <p:cNvSpPr txBox="1"/>
          <p:nvPr/>
        </p:nvSpPr>
        <p:spPr>
          <a:xfrm>
            <a:off x="6967728" y="3010205"/>
            <a:ext cx="3310128" cy="256032"/>
          </a:xfrm>
          <a:prstGeom prst="rect">
            <a:avLst/>
          </a:prstGeom>
          <a:noFill/>
          <a:ln/>
        </p:spPr>
        <p:txBody>
          <a:bodyPr wrap="square" lIns="0" tIns="0" rIns="0" bIns="0" rtlCol="0" anchor="ctr"/>
          <a:lstStyle/>
          <a:p>
            <a:pPr indent="0" marL="0">
              <a:buNone/>
            </a:pPr>
            <a:r>
              <a:rPr lang="en-US" sz="820" dirty="0">
                <a:solidFill>
                  <a:srgbClr val="8A9299"/>
                </a:solidFill>
                <a:latin typeface="Segoe UI" pitchFamily="34" charset="0"/>
                <a:ea typeface="Segoe UI" pitchFamily="34" charset="-122"/>
                <a:cs typeface="Segoe UI" pitchFamily="34" charset="-120"/>
              </a:rPr>
              <a:t>Prime + CVM lead  ·  1,100 digital MQLs/month; 24h KAM SLA</a:t>
            </a:r>
            <a:endParaRPr lang="en-US" sz="820" dirty="0"/>
          </a:p>
        </p:txBody>
      </p:sp>
      <p:sp>
        <p:nvSpPr>
          <p:cNvPr id="21" name="Text 18"/>
          <p:cNvSpPr txBox="1"/>
          <p:nvPr/>
        </p:nvSpPr>
        <p:spPr>
          <a:xfrm>
            <a:off x="10332720" y="2745029"/>
            <a:ext cx="1280160" cy="548640"/>
          </a:xfrm>
          <a:prstGeom prst="rect">
            <a:avLst/>
          </a:prstGeom>
          <a:noFill/>
          <a:ln/>
        </p:spPr>
        <p:txBody>
          <a:bodyPr wrap="square" lIns="0" tIns="0" rIns="0" bIns="0" rtlCol="0" anchor="ctr"/>
          <a:lstStyle/>
          <a:p>
            <a:pPr algn="r" indent="0" marL="0">
              <a:buNone/>
            </a:pPr>
            <a:r>
              <a:rPr lang="en-US" sz="1600" b="1" dirty="0">
                <a:solidFill>
                  <a:srgbClr val="E8112D"/>
                </a:solidFill>
                <a:latin typeface="Segoe UI" pitchFamily="34" charset="0"/>
                <a:ea typeface="Segoe UI" pitchFamily="34" charset="-122"/>
                <a:cs typeface="Segoe UI" pitchFamily="34" charset="-120"/>
              </a:rPr>
              <a:t>+4.9</a:t>
            </a:r>
            <a:endParaRPr lang="en-US" sz="1600" dirty="0"/>
          </a:p>
        </p:txBody>
      </p:sp>
      <p:sp>
        <p:nvSpPr>
          <p:cNvPr id="22" name="Shape 19"/>
          <p:cNvSpPr/>
          <p:nvPr/>
        </p:nvSpPr>
        <p:spPr>
          <a:xfrm>
            <a:off x="6446520" y="3405226"/>
            <a:ext cx="5239512" cy="621792"/>
          </a:xfrm>
          <a:prstGeom prst="rect">
            <a:avLst/>
          </a:prstGeom>
          <a:solidFill>
            <a:srgbClr val="FFFFFF"/>
          </a:solidFill>
          <a:ln w="12700">
            <a:solidFill>
              <a:srgbClr val="E3E6E9"/>
            </a:solidFill>
            <a:prstDash val="solid"/>
          </a:ln>
        </p:spPr>
      </p:sp>
      <p:sp>
        <p:nvSpPr>
          <p:cNvPr id="23" name="Shape 20"/>
          <p:cNvSpPr/>
          <p:nvPr/>
        </p:nvSpPr>
        <p:spPr>
          <a:xfrm>
            <a:off x="6446520" y="3405226"/>
            <a:ext cx="45720" cy="621792"/>
          </a:xfrm>
          <a:prstGeom prst="rect">
            <a:avLst/>
          </a:prstGeom>
          <a:solidFill>
            <a:srgbClr val="E8112D"/>
          </a:solidFill>
          <a:ln w="12700">
            <a:solidFill>
              <a:srgbClr val="E8112D"/>
            </a:solidFill>
            <a:prstDash val="solid"/>
          </a:ln>
        </p:spPr>
      </p:sp>
      <p:sp>
        <p:nvSpPr>
          <p:cNvPr id="24" name="Text 21"/>
          <p:cNvSpPr txBox="1"/>
          <p:nvPr/>
        </p:nvSpPr>
        <p:spPr>
          <a:xfrm>
            <a:off x="6565392" y="3432658"/>
            <a:ext cx="384048" cy="548640"/>
          </a:xfrm>
          <a:prstGeom prst="rect">
            <a:avLst/>
          </a:prstGeom>
          <a:noFill/>
          <a:ln/>
        </p:spPr>
        <p:txBody>
          <a:bodyPr wrap="square" lIns="0" tIns="0" rIns="0" bIns="0" rtlCol="0" anchor="ctr"/>
          <a:lstStyle/>
          <a:p>
            <a:pPr indent="0" marL="0">
              <a:buNone/>
            </a:pPr>
            <a:r>
              <a:rPr lang="en-US" sz="1000" b="1" dirty="0">
                <a:solidFill>
                  <a:srgbClr val="E8112D"/>
                </a:solidFill>
                <a:latin typeface="Segoe UI" pitchFamily="34" charset="0"/>
                <a:ea typeface="Segoe UI" pitchFamily="34" charset="-122"/>
                <a:cs typeface="Segoe UI" pitchFamily="34" charset="-120"/>
              </a:rPr>
              <a:t>L3</a:t>
            </a:r>
            <a:endParaRPr lang="en-US" sz="1000" dirty="0"/>
          </a:p>
        </p:txBody>
      </p:sp>
      <p:sp>
        <p:nvSpPr>
          <p:cNvPr id="25" name="Text 22"/>
          <p:cNvSpPr txBox="1"/>
          <p:nvPr/>
        </p:nvSpPr>
        <p:spPr>
          <a:xfrm>
            <a:off x="6967728" y="3450946"/>
            <a:ext cx="3246120" cy="256032"/>
          </a:xfrm>
          <a:prstGeom prst="rect">
            <a:avLst/>
          </a:prstGeom>
          <a:noFill/>
          <a:ln/>
        </p:spPr>
        <p:txBody>
          <a:bodyPr wrap="square" lIns="0" tIns="0" rIns="0" bIns="0" rtlCol="0" anchor="ctr"/>
          <a:lstStyle/>
          <a:p>
            <a:pPr indent="0" marL="0">
              <a:buNone/>
            </a:pPr>
            <a:r>
              <a:rPr lang="en-US" sz="1050" b="1" dirty="0">
                <a:solidFill>
                  <a:srgbClr val="1A1D21"/>
                </a:solidFill>
                <a:latin typeface="Segoe UI" pitchFamily="34" charset="0"/>
                <a:ea typeface="Segoe UI" pitchFamily="34" charset="-122"/>
                <a:cs typeface="Segoe UI" pitchFamily="34" charset="-120"/>
              </a:rPr>
              <a:t>KAM productivity operating system</a:t>
            </a:r>
            <a:endParaRPr lang="en-US" sz="1050" dirty="0"/>
          </a:p>
        </p:txBody>
      </p:sp>
      <p:sp>
        <p:nvSpPr>
          <p:cNvPr id="26" name="Text 23"/>
          <p:cNvSpPr txBox="1"/>
          <p:nvPr/>
        </p:nvSpPr>
        <p:spPr>
          <a:xfrm>
            <a:off x="6967728" y="3697834"/>
            <a:ext cx="3310128" cy="256032"/>
          </a:xfrm>
          <a:prstGeom prst="rect">
            <a:avLst/>
          </a:prstGeom>
          <a:noFill/>
          <a:ln/>
        </p:spPr>
        <p:txBody>
          <a:bodyPr wrap="square" lIns="0" tIns="0" rIns="0" bIns="0" rtlCol="0" anchor="ctr"/>
          <a:lstStyle/>
          <a:p>
            <a:pPr indent="0" marL="0">
              <a:buNone/>
            </a:pPr>
            <a:r>
              <a:rPr lang="en-US" sz="820" dirty="0">
                <a:solidFill>
                  <a:srgbClr val="8A9299"/>
                </a:solidFill>
                <a:latin typeface="Segoe UI" pitchFamily="34" charset="0"/>
                <a:ea typeface="Segoe UI" pitchFamily="34" charset="-122"/>
                <a:cs typeface="Segoe UI" pitchFamily="34" charset="-120"/>
              </a:rPr>
              <a:t>Team Leaders (14)  ·  Selling time 55%; 4.5 opps/KAM/month</a:t>
            </a:r>
            <a:endParaRPr lang="en-US" sz="820" dirty="0"/>
          </a:p>
        </p:txBody>
      </p:sp>
      <p:sp>
        <p:nvSpPr>
          <p:cNvPr id="27" name="Text 24"/>
          <p:cNvSpPr txBox="1"/>
          <p:nvPr/>
        </p:nvSpPr>
        <p:spPr>
          <a:xfrm>
            <a:off x="10332720" y="3432658"/>
            <a:ext cx="1280160" cy="548640"/>
          </a:xfrm>
          <a:prstGeom prst="rect">
            <a:avLst/>
          </a:prstGeom>
          <a:noFill/>
          <a:ln/>
        </p:spPr>
        <p:txBody>
          <a:bodyPr wrap="square" lIns="0" tIns="0" rIns="0" bIns="0" rtlCol="0" anchor="ctr"/>
          <a:lstStyle/>
          <a:p>
            <a:pPr algn="r" indent="0" marL="0">
              <a:buNone/>
            </a:pPr>
            <a:r>
              <a:rPr lang="en-US" sz="1600" b="1" dirty="0">
                <a:solidFill>
                  <a:srgbClr val="E8112D"/>
                </a:solidFill>
                <a:latin typeface="Segoe UI" pitchFamily="34" charset="0"/>
                <a:ea typeface="Segoe UI" pitchFamily="34" charset="-122"/>
                <a:cs typeface="Segoe UI" pitchFamily="34" charset="-120"/>
              </a:rPr>
              <a:t>+3.3</a:t>
            </a:r>
            <a:endParaRPr lang="en-US" sz="1600" dirty="0"/>
          </a:p>
        </p:txBody>
      </p:sp>
      <p:sp>
        <p:nvSpPr>
          <p:cNvPr id="28" name="Shape 25"/>
          <p:cNvSpPr/>
          <p:nvPr/>
        </p:nvSpPr>
        <p:spPr>
          <a:xfrm>
            <a:off x="6446520" y="4092854"/>
            <a:ext cx="5239512" cy="621792"/>
          </a:xfrm>
          <a:prstGeom prst="rect">
            <a:avLst/>
          </a:prstGeom>
          <a:solidFill>
            <a:srgbClr val="FFFFFF"/>
          </a:solidFill>
          <a:ln w="12700">
            <a:solidFill>
              <a:srgbClr val="E3E6E9"/>
            </a:solidFill>
            <a:prstDash val="solid"/>
          </a:ln>
        </p:spPr>
      </p:sp>
      <p:sp>
        <p:nvSpPr>
          <p:cNvPr id="29" name="Shape 26"/>
          <p:cNvSpPr/>
          <p:nvPr/>
        </p:nvSpPr>
        <p:spPr>
          <a:xfrm>
            <a:off x="6446520" y="4092854"/>
            <a:ext cx="45720" cy="621792"/>
          </a:xfrm>
          <a:prstGeom prst="rect">
            <a:avLst/>
          </a:prstGeom>
          <a:solidFill>
            <a:srgbClr val="E8112D"/>
          </a:solidFill>
          <a:ln w="12700">
            <a:solidFill>
              <a:srgbClr val="E8112D"/>
            </a:solidFill>
            <a:prstDash val="solid"/>
          </a:ln>
        </p:spPr>
      </p:sp>
      <p:sp>
        <p:nvSpPr>
          <p:cNvPr id="30" name="Text 27"/>
          <p:cNvSpPr txBox="1"/>
          <p:nvPr/>
        </p:nvSpPr>
        <p:spPr>
          <a:xfrm>
            <a:off x="6565392" y="4120286"/>
            <a:ext cx="384048" cy="548640"/>
          </a:xfrm>
          <a:prstGeom prst="rect">
            <a:avLst/>
          </a:prstGeom>
          <a:noFill/>
          <a:ln/>
        </p:spPr>
        <p:txBody>
          <a:bodyPr wrap="square" lIns="0" tIns="0" rIns="0" bIns="0" rtlCol="0" anchor="ctr"/>
          <a:lstStyle/>
          <a:p>
            <a:pPr indent="0" marL="0">
              <a:buNone/>
            </a:pPr>
            <a:r>
              <a:rPr lang="en-US" sz="1000" b="1" dirty="0">
                <a:solidFill>
                  <a:srgbClr val="E8112D"/>
                </a:solidFill>
                <a:latin typeface="Segoe UI" pitchFamily="34" charset="0"/>
                <a:ea typeface="Segoe UI" pitchFamily="34" charset="-122"/>
                <a:cs typeface="Segoe UI" pitchFamily="34" charset="-120"/>
              </a:rPr>
              <a:t>L5</a:t>
            </a:r>
            <a:endParaRPr lang="en-US" sz="1000" dirty="0"/>
          </a:p>
        </p:txBody>
      </p:sp>
      <p:sp>
        <p:nvSpPr>
          <p:cNvPr id="31" name="Text 28"/>
          <p:cNvSpPr txBox="1"/>
          <p:nvPr/>
        </p:nvSpPr>
        <p:spPr>
          <a:xfrm>
            <a:off x="6967728" y="4138574"/>
            <a:ext cx="3246120" cy="256032"/>
          </a:xfrm>
          <a:prstGeom prst="rect">
            <a:avLst/>
          </a:prstGeom>
          <a:noFill/>
          <a:ln/>
        </p:spPr>
        <p:txBody>
          <a:bodyPr wrap="square" lIns="0" tIns="0" rIns="0" bIns="0" rtlCol="0" anchor="ctr"/>
          <a:lstStyle/>
          <a:p>
            <a:pPr indent="0" marL="0">
              <a:buNone/>
            </a:pPr>
            <a:r>
              <a:rPr lang="en-US" sz="1050" b="1" dirty="0">
                <a:solidFill>
                  <a:srgbClr val="1A1D21"/>
                </a:solidFill>
                <a:latin typeface="Segoe UI" pitchFamily="34" charset="0"/>
                <a:ea typeface="Segoe UI" pitchFamily="34" charset="-122"/>
                <a:cs typeface="Segoe UI" pitchFamily="34" charset="-120"/>
              </a:rPr>
              <a:t>Zero-vacancy portfolio coverage</a:t>
            </a:r>
            <a:endParaRPr lang="en-US" sz="1050" dirty="0"/>
          </a:p>
        </p:txBody>
      </p:sp>
      <p:sp>
        <p:nvSpPr>
          <p:cNvPr id="32" name="Text 29"/>
          <p:cNvSpPr txBox="1"/>
          <p:nvPr/>
        </p:nvSpPr>
        <p:spPr>
          <a:xfrm>
            <a:off x="6967728" y="4385462"/>
            <a:ext cx="3310128" cy="256032"/>
          </a:xfrm>
          <a:prstGeom prst="rect">
            <a:avLst/>
          </a:prstGeom>
          <a:noFill/>
          <a:ln/>
        </p:spPr>
        <p:txBody>
          <a:bodyPr wrap="square" lIns="0" tIns="0" rIns="0" bIns="0" rtlCol="0" anchor="ctr"/>
          <a:lstStyle/>
          <a:p>
            <a:pPr indent="0" marL="0">
              <a:buNone/>
            </a:pPr>
            <a:r>
              <a:rPr lang="en-US" sz="820" dirty="0">
                <a:solidFill>
                  <a:srgbClr val="8A9299"/>
                </a:solidFill>
                <a:latin typeface="Segoe UI" pitchFamily="34" charset="0"/>
                <a:ea typeface="Segoe UI" pitchFamily="34" charset="-122"/>
                <a:cs typeface="Segoe UI" pitchFamily="34" charset="-120"/>
              </a:rPr>
              <a:t>Prime Ops + HR  ·  Vacancy &lt;2; time-to-fill 35 days</a:t>
            </a:r>
            <a:endParaRPr lang="en-US" sz="820" dirty="0"/>
          </a:p>
        </p:txBody>
      </p:sp>
      <p:sp>
        <p:nvSpPr>
          <p:cNvPr id="33" name="Text 30"/>
          <p:cNvSpPr txBox="1"/>
          <p:nvPr/>
        </p:nvSpPr>
        <p:spPr>
          <a:xfrm>
            <a:off x="10332720" y="4120286"/>
            <a:ext cx="1280160" cy="548640"/>
          </a:xfrm>
          <a:prstGeom prst="rect">
            <a:avLst/>
          </a:prstGeom>
          <a:noFill/>
          <a:ln/>
        </p:spPr>
        <p:txBody>
          <a:bodyPr wrap="square" lIns="0" tIns="0" rIns="0" bIns="0" rtlCol="0" anchor="ctr"/>
          <a:lstStyle/>
          <a:p>
            <a:pPr algn="r" indent="0" marL="0">
              <a:buNone/>
            </a:pPr>
            <a:r>
              <a:rPr lang="en-US" sz="1600" b="1" dirty="0">
                <a:solidFill>
                  <a:srgbClr val="E8112D"/>
                </a:solidFill>
                <a:latin typeface="Segoe UI" pitchFamily="34" charset="0"/>
                <a:ea typeface="Segoe UI" pitchFamily="34" charset="-122"/>
                <a:cs typeface="Segoe UI" pitchFamily="34" charset="-120"/>
              </a:rPr>
              <a:t>+2.5</a:t>
            </a:r>
            <a:endParaRPr lang="en-US" sz="1600" dirty="0"/>
          </a:p>
        </p:txBody>
      </p:sp>
      <p:sp>
        <p:nvSpPr>
          <p:cNvPr id="34" name="Shape 31"/>
          <p:cNvSpPr/>
          <p:nvPr/>
        </p:nvSpPr>
        <p:spPr>
          <a:xfrm>
            <a:off x="6446520" y="4780483"/>
            <a:ext cx="5239512" cy="621792"/>
          </a:xfrm>
          <a:prstGeom prst="rect">
            <a:avLst/>
          </a:prstGeom>
          <a:solidFill>
            <a:srgbClr val="FFFFFF"/>
          </a:solidFill>
          <a:ln w="12700">
            <a:solidFill>
              <a:srgbClr val="E3E6E9"/>
            </a:solidFill>
            <a:prstDash val="solid"/>
          </a:ln>
        </p:spPr>
      </p:sp>
      <p:sp>
        <p:nvSpPr>
          <p:cNvPr id="35" name="Shape 32"/>
          <p:cNvSpPr/>
          <p:nvPr/>
        </p:nvSpPr>
        <p:spPr>
          <a:xfrm>
            <a:off x="6446520" y="4780483"/>
            <a:ext cx="45720" cy="621792"/>
          </a:xfrm>
          <a:prstGeom prst="rect">
            <a:avLst/>
          </a:prstGeom>
          <a:solidFill>
            <a:srgbClr val="F2730A"/>
          </a:solidFill>
          <a:ln w="12700">
            <a:solidFill>
              <a:srgbClr val="F2730A"/>
            </a:solidFill>
            <a:prstDash val="solid"/>
          </a:ln>
        </p:spPr>
      </p:sp>
      <p:sp>
        <p:nvSpPr>
          <p:cNvPr id="36" name="Text 33"/>
          <p:cNvSpPr txBox="1"/>
          <p:nvPr/>
        </p:nvSpPr>
        <p:spPr>
          <a:xfrm>
            <a:off x="6565392" y="4807915"/>
            <a:ext cx="384048" cy="548640"/>
          </a:xfrm>
          <a:prstGeom prst="rect">
            <a:avLst/>
          </a:prstGeom>
          <a:noFill/>
          <a:ln/>
        </p:spPr>
        <p:txBody>
          <a:bodyPr wrap="square" lIns="0" tIns="0" rIns="0" bIns="0" rtlCol="0" anchor="ctr"/>
          <a:lstStyle/>
          <a:p>
            <a:pPr indent="0" marL="0">
              <a:buNone/>
            </a:pPr>
            <a:r>
              <a:rPr lang="en-US" sz="1000" b="1" dirty="0">
                <a:solidFill>
                  <a:srgbClr val="F2730A"/>
                </a:solidFill>
                <a:latin typeface="Segoe UI" pitchFamily="34" charset="0"/>
                <a:ea typeface="Segoe UI" pitchFamily="34" charset="-122"/>
                <a:cs typeface="Segoe UI" pitchFamily="34" charset="-120"/>
              </a:rPr>
              <a:t>L2</a:t>
            </a:r>
            <a:endParaRPr lang="en-US" sz="1000" dirty="0"/>
          </a:p>
        </p:txBody>
      </p:sp>
      <p:sp>
        <p:nvSpPr>
          <p:cNvPr id="37" name="Text 34"/>
          <p:cNvSpPr txBox="1"/>
          <p:nvPr/>
        </p:nvSpPr>
        <p:spPr>
          <a:xfrm>
            <a:off x="6967728" y="4826203"/>
            <a:ext cx="3246120" cy="256032"/>
          </a:xfrm>
          <a:prstGeom prst="rect">
            <a:avLst/>
          </a:prstGeom>
          <a:noFill/>
          <a:ln/>
        </p:spPr>
        <p:txBody>
          <a:bodyPr wrap="square" lIns="0" tIns="0" rIns="0" bIns="0" rtlCol="0" anchor="ctr"/>
          <a:lstStyle/>
          <a:p>
            <a:pPr indent="0" marL="0">
              <a:buNone/>
            </a:pPr>
            <a:r>
              <a:rPr lang="en-US" sz="1050" b="1" dirty="0">
                <a:solidFill>
                  <a:srgbClr val="1A1D21"/>
                </a:solidFill>
                <a:latin typeface="Segoe UI" pitchFamily="34" charset="0"/>
                <a:ea typeface="Segoe UI" pitchFamily="34" charset="-122"/>
                <a:cs typeface="Segoe UI" pitchFamily="34" charset="-120"/>
              </a:rPr>
              <a:t>Account management &amp; save plays</a:t>
            </a:r>
            <a:endParaRPr lang="en-US" sz="1050" dirty="0"/>
          </a:p>
        </p:txBody>
      </p:sp>
      <p:sp>
        <p:nvSpPr>
          <p:cNvPr id="38" name="Text 35"/>
          <p:cNvSpPr txBox="1"/>
          <p:nvPr/>
        </p:nvSpPr>
        <p:spPr>
          <a:xfrm>
            <a:off x="6967728" y="5073091"/>
            <a:ext cx="3310128" cy="256032"/>
          </a:xfrm>
          <a:prstGeom prst="rect">
            <a:avLst/>
          </a:prstGeom>
          <a:noFill/>
          <a:ln/>
        </p:spPr>
        <p:txBody>
          <a:bodyPr wrap="square" lIns="0" tIns="0" rIns="0" bIns="0" rtlCol="0" anchor="ctr"/>
          <a:lstStyle/>
          <a:p>
            <a:pPr indent="0" marL="0">
              <a:buNone/>
            </a:pPr>
            <a:r>
              <a:rPr lang="en-US" sz="820" dirty="0">
                <a:solidFill>
                  <a:srgbClr val="8A9299"/>
                </a:solidFill>
                <a:latin typeface="Segoe UI" pitchFamily="34" charset="0"/>
                <a:ea typeface="Segoe UI" pitchFamily="34" charset="-122"/>
                <a:cs typeface="Segoe UI" pitchFamily="34" charset="-120"/>
              </a:rPr>
              <a:t>Directors + TLs  ·  90% of Red-tier accounts touched in 10 days</a:t>
            </a:r>
            <a:endParaRPr lang="en-US" sz="820" dirty="0"/>
          </a:p>
        </p:txBody>
      </p:sp>
      <p:sp>
        <p:nvSpPr>
          <p:cNvPr id="39" name="Text 36"/>
          <p:cNvSpPr txBox="1"/>
          <p:nvPr/>
        </p:nvSpPr>
        <p:spPr>
          <a:xfrm>
            <a:off x="10332720" y="4807915"/>
            <a:ext cx="1280160" cy="548640"/>
          </a:xfrm>
          <a:prstGeom prst="rect">
            <a:avLst/>
          </a:prstGeom>
          <a:noFill/>
          <a:ln/>
        </p:spPr>
        <p:txBody>
          <a:bodyPr wrap="square" lIns="0" tIns="0" rIns="0" bIns="0" rtlCol="0" anchor="ctr"/>
          <a:lstStyle/>
          <a:p>
            <a:pPr algn="r" indent="0" marL="0">
              <a:buNone/>
            </a:pPr>
            <a:r>
              <a:rPr lang="en-US" sz="1600" b="1" dirty="0">
                <a:solidFill>
                  <a:srgbClr val="F2730A"/>
                </a:solidFill>
                <a:latin typeface="Segoe UI" pitchFamily="34" charset="0"/>
                <a:ea typeface="Segoe UI" pitchFamily="34" charset="-122"/>
                <a:cs typeface="Segoe UI" pitchFamily="34" charset="-120"/>
              </a:rPr>
              <a:t>+5.2</a:t>
            </a:r>
            <a:endParaRPr lang="en-US" sz="1600" dirty="0"/>
          </a:p>
        </p:txBody>
      </p:sp>
      <p:sp>
        <p:nvSpPr>
          <p:cNvPr id="40" name="Shape 37"/>
          <p:cNvSpPr/>
          <p:nvPr/>
        </p:nvSpPr>
        <p:spPr>
          <a:xfrm>
            <a:off x="6446520" y="5468112"/>
            <a:ext cx="5239512" cy="621792"/>
          </a:xfrm>
          <a:prstGeom prst="rect">
            <a:avLst/>
          </a:prstGeom>
          <a:solidFill>
            <a:srgbClr val="FFFFFF"/>
          </a:solidFill>
          <a:ln w="12700">
            <a:solidFill>
              <a:srgbClr val="E3E6E9"/>
            </a:solidFill>
            <a:prstDash val="solid"/>
          </a:ln>
        </p:spPr>
      </p:sp>
      <p:sp>
        <p:nvSpPr>
          <p:cNvPr id="41" name="Shape 38"/>
          <p:cNvSpPr/>
          <p:nvPr/>
        </p:nvSpPr>
        <p:spPr>
          <a:xfrm>
            <a:off x="6446520" y="5468112"/>
            <a:ext cx="45720" cy="621792"/>
          </a:xfrm>
          <a:prstGeom prst="rect">
            <a:avLst/>
          </a:prstGeom>
          <a:solidFill>
            <a:srgbClr val="F2730A"/>
          </a:solidFill>
          <a:ln w="12700">
            <a:solidFill>
              <a:srgbClr val="F2730A"/>
            </a:solidFill>
            <a:prstDash val="solid"/>
          </a:ln>
        </p:spPr>
      </p:sp>
      <p:sp>
        <p:nvSpPr>
          <p:cNvPr id="42" name="Text 39"/>
          <p:cNvSpPr txBox="1"/>
          <p:nvPr/>
        </p:nvSpPr>
        <p:spPr>
          <a:xfrm>
            <a:off x="6565392" y="5495544"/>
            <a:ext cx="384048" cy="548640"/>
          </a:xfrm>
          <a:prstGeom prst="rect">
            <a:avLst/>
          </a:prstGeom>
          <a:noFill/>
          <a:ln/>
        </p:spPr>
        <p:txBody>
          <a:bodyPr wrap="square" lIns="0" tIns="0" rIns="0" bIns="0" rtlCol="0" anchor="ctr"/>
          <a:lstStyle/>
          <a:p>
            <a:pPr indent="0" marL="0">
              <a:buNone/>
            </a:pPr>
            <a:r>
              <a:rPr lang="en-US" sz="1000" b="1" dirty="0">
                <a:solidFill>
                  <a:srgbClr val="F2730A"/>
                </a:solidFill>
                <a:latin typeface="Segoe UI" pitchFamily="34" charset="0"/>
                <a:ea typeface="Segoe UI" pitchFamily="34" charset="-122"/>
                <a:cs typeface="Segoe UI" pitchFamily="34" charset="-120"/>
              </a:rPr>
              <a:t>L4</a:t>
            </a:r>
            <a:endParaRPr lang="en-US" sz="1000" dirty="0"/>
          </a:p>
        </p:txBody>
      </p:sp>
      <p:sp>
        <p:nvSpPr>
          <p:cNvPr id="43" name="Text 40"/>
          <p:cNvSpPr txBox="1"/>
          <p:nvPr/>
        </p:nvSpPr>
        <p:spPr>
          <a:xfrm>
            <a:off x="6967728" y="5513832"/>
            <a:ext cx="3246120" cy="256032"/>
          </a:xfrm>
          <a:prstGeom prst="rect">
            <a:avLst/>
          </a:prstGeom>
          <a:noFill/>
          <a:ln/>
        </p:spPr>
        <p:txBody>
          <a:bodyPr wrap="square" lIns="0" tIns="0" rIns="0" bIns="0" rtlCol="0" anchor="ctr"/>
          <a:lstStyle/>
          <a:p>
            <a:pPr indent="0" marL="0">
              <a:buNone/>
            </a:pPr>
            <a:r>
              <a:rPr lang="en-US" sz="1050" b="1" dirty="0">
                <a:solidFill>
                  <a:srgbClr val="1A1D21"/>
                </a:solidFill>
                <a:latin typeface="Segoe UI" pitchFamily="34" charset="0"/>
                <a:ea typeface="Segoe UI" pitchFamily="34" charset="-122"/>
                <a:cs typeface="Segoe UI" pitchFamily="34" charset="-120"/>
              </a:rPr>
              <a:t>Talent retention &amp; continuity</a:t>
            </a:r>
            <a:endParaRPr lang="en-US" sz="1050" dirty="0"/>
          </a:p>
        </p:txBody>
      </p:sp>
      <p:sp>
        <p:nvSpPr>
          <p:cNvPr id="44" name="Text 41"/>
          <p:cNvSpPr txBox="1"/>
          <p:nvPr/>
        </p:nvSpPr>
        <p:spPr>
          <a:xfrm>
            <a:off x="6967728" y="5760720"/>
            <a:ext cx="3310128" cy="256032"/>
          </a:xfrm>
          <a:prstGeom prst="rect">
            <a:avLst/>
          </a:prstGeom>
          <a:noFill/>
          <a:ln/>
        </p:spPr>
        <p:txBody>
          <a:bodyPr wrap="square" lIns="0" tIns="0" rIns="0" bIns="0" rtlCol="0" anchor="ctr"/>
          <a:lstStyle/>
          <a:p>
            <a:pPr indent="0" marL="0">
              <a:buNone/>
            </a:pPr>
            <a:r>
              <a:rPr lang="en-US" sz="820" dirty="0">
                <a:solidFill>
                  <a:srgbClr val="8A9299"/>
                </a:solidFill>
                <a:latin typeface="Segoe UI" pitchFamily="34" charset="0"/>
                <a:ea typeface="Segoe UI" pitchFamily="34" charset="-122"/>
                <a:cs typeface="Segoe UI" pitchFamily="34" charset="-120"/>
              </a:rPr>
              <a:t>Prime + HRBP  ·  Regretted attrition &lt;=7%; stay interviews 100%</a:t>
            </a:r>
            <a:endParaRPr lang="en-US" sz="820" dirty="0"/>
          </a:p>
        </p:txBody>
      </p:sp>
      <p:sp>
        <p:nvSpPr>
          <p:cNvPr id="45" name="Text 42"/>
          <p:cNvSpPr txBox="1"/>
          <p:nvPr/>
        </p:nvSpPr>
        <p:spPr>
          <a:xfrm>
            <a:off x="10332720" y="5495544"/>
            <a:ext cx="1280160" cy="548640"/>
          </a:xfrm>
          <a:prstGeom prst="rect">
            <a:avLst/>
          </a:prstGeom>
          <a:noFill/>
          <a:ln/>
        </p:spPr>
        <p:txBody>
          <a:bodyPr wrap="square" lIns="0" tIns="0" rIns="0" bIns="0" rtlCol="0" anchor="ctr"/>
          <a:lstStyle/>
          <a:p>
            <a:pPr algn="r" indent="0" marL="0">
              <a:buNone/>
            </a:pPr>
            <a:r>
              <a:rPr lang="en-US" sz="1600" b="1" dirty="0">
                <a:solidFill>
                  <a:srgbClr val="F2730A"/>
                </a:solidFill>
                <a:latin typeface="Segoe UI" pitchFamily="34" charset="0"/>
                <a:ea typeface="Segoe UI" pitchFamily="34" charset="-122"/>
                <a:cs typeface="Segoe UI" pitchFamily="34" charset="-120"/>
              </a:rPr>
              <a:t>+1.3</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7F8FA"/>
        </a:solidFill>
      </p:bgPr>
    </p:bg>
    <p:spTree>
      <p:nvGrpSpPr>
        <p:cNvPr id="1" name=""/>
        <p:cNvGrpSpPr/>
        <p:nvPr/>
      </p:nvGrpSpPr>
      <p:grpSpPr>
        <a:xfrm>
          <a:off x="0" y="0"/>
          <a:ext cx="0" cy="0"/>
          <a:chOff x="0" y="0"/>
          <a:chExt cx="0" cy="0"/>
        </a:xfrm>
      </p:grpSpPr>
      <p:sp>
        <p:nvSpPr>
          <p:cNvPr id="2" name="Shape 0"/>
          <p:cNvSpPr/>
          <p:nvPr/>
        </p:nvSpPr>
        <p:spPr>
          <a:xfrm>
            <a:off x="502920" y="365760"/>
            <a:ext cx="402336" cy="402336"/>
          </a:xfrm>
          <a:prstGeom prst="roundRect">
            <a:avLst>
              <a:gd name="adj" fmla="val 22727"/>
            </a:avLst>
          </a:prstGeom>
          <a:solidFill>
            <a:srgbClr val="C51230"/>
          </a:solidFill>
          <a:ln w="12700">
            <a:solidFill>
              <a:srgbClr val="C51230"/>
            </a:solidFill>
            <a:prstDash val="solid"/>
          </a:ln>
        </p:spPr>
      </p:sp>
      <p:sp>
        <p:nvSpPr>
          <p:cNvPr id="3" name="Text 1"/>
          <p:cNvSpPr txBox="1"/>
          <p:nvPr/>
        </p:nvSpPr>
        <p:spPr>
          <a:xfrm>
            <a:off x="502920" y="365760"/>
            <a:ext cx="402336"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&amp;</a:t>
            </a:r>
            <a:endParaRPr lang="en-US" sz="1900" dirty="0"/>
          </a:p>
        </p:txBody>
      </p:sp>
      <p:sp>
        <p:nvSpPr>
          <p:cNvPr id="4" name="Text 2"/>
          <p:cNvSpPr txBox="1"/>
          <p:nvPr/>
        </p:nvSpPr>
        <p:spPr>
          <a:xfrm>
            <a:off x="1051560" y="365760"/>
            <a:ext cx="6400800" cy="402336"/>
          </a:xfrm>
          <a:prstGeom prst="rect">
            <a:avLst/>
          </a:prstGeom>
          <a:noFill/>
          <a:ln/>
        </p:spPr>
        <p:txBody>
          <a:bodyPr wrap="square" lIns="0" tIns="0" rIns="0" bIns="0" rtlCol="0" anchor="ctr"/>
          <a:lstStyle/>
          <a:p>
            <a:pPr indent="0" marL="0">
              <a:buNone/>
            </a:pPr>
            <a:r>
              <a:rPr lang="en-US" sz="950" b="1" spc="220" kern="0" dirty="0">
                <a:solidFill>
                  <a:srgbClr val="4A5259"/>
                </a:solidFill>
                <a:latin typeface="Segoe UI" pitchFamily="34" charset="0"/>
                <a:ea typeface="Segoe UI" pitchFamily="34" charset="-122"/>
                <a:cs typeface="Segoe UI" pitchFamily="34" charset="-120"/>
              </a:rPr>
              <a:t>THE BINDING CONSTRAINT</a:t>
            </a:r>
            <a:endParaRPr lang="en-US" sz="950" dirty="0"/>
          </a:p>
        </p:txBody>
      </p:sp>
      <p:sp>
        <p:nvSpPr>
          <p:cNvPr id="5" name="Text 3"/>
          <p:cNvSpPr txBox="1"/>
          <p:nvPr/>
        </p:nvSpPr>
        <p:spPr>
          <a:xfrm>
            <a:off x="11183112" y="365760"/>
            <a:ext cx="502920" cy="402336"/>
          </a:xfrm>
          <a:prstGeom prst="rect">
            <a:avLst/>
          </a:prstGeom>
          <a:noFill/>
          <a:ln/>
        </p:spPr>
        <p:txBody>
          <a:bodyPr wrap="square" lIns="0" tIns="0" rIns="0" bIns="0" rtlCol="0" anchor="ctr"/>
          <a:lstStyle/>
          <a:p>
            <a:pPr algn="r" indent="0" marL="0">
              <a:buNone/>
            </a:pPr>
            <a:r>
              <a:rPr lang="en-US" sz="1100" b="1" dirty="0">
                <a:solidFill>
                  <a:srgbClr val="8A9299"/>
                </a:solidFill>
                <a:latin typeface="Segoe UI" pitchFamily="34" charset="0"/>
                <a:ea typeface="Segoe UI" pitchFamily="34" charset="-122"/>
                <a:cs typeface="Segoe UI" pitchFamily="34" charset="-120"/>
              </a:rPr>
              <a:t>03</a:t>
            </a:r>
            <a:endParaRPr lang="en-US" sz="1100" dirty="0"/>
          </a:p>
        </p:txBody>
      </p:sp>
      <p:sp>
        <p:nvSpPr>
          <p:cNvPr id="6" name="Text 4"/>
          <p:cNvSpPr txBox="1"/>
          <p:nvPr/>
        </p:nvSpPr>
        <p:spPr>
          <a:xfrm>
            <a:off x="502920" y="896112"/>
            <a:ext cx="11000232" cy="713232"/>
          </a:xfrm>
          <a:prstGeom prst="rect">
            <a:avLst/>
          </a:prstGeom>
          <a:noFill/>
          <a:ln/>
        </p:spPr>
        <p:txBody>
          <a:bodyPr wrap="square" lIns="0" tIns="0" rIns="0" bIns="0" rtlCol="0" anchor="t"/>
          <a:lstStyle/>
          <a:p>
            <a:pPr indent="0" marL="0">
              <a:lnSpc>
                <a:spcPct val="95000"/>
              </a:lnSpc>
              <a:buNone/>
            </a:pPr>
            <a:r>
              <a:rPr lang="en-US" sz="2100" b="1" dirty="0">
                <a:solidFill>
                  <a:srgbClr val="1A1D21"/>
                </a:solidFill>
                <a:latin typeface="Segoe UI" pitchFamily="34" charset="0"/>
                <a:ea typeface="Segoe UI" pitchFamily="34" charset="-122"/>
                <a:cs typeface="Segoe UI" pitchFamily="34" charset="-120"/>
              </a:rPr>
              <a:t>Capacity is the constraint: +25% output per KAM is required</a:t>
            </a:r>
            <a:endParaRPr lang="en-US" sz="2100" dirty="0"/>
          </a:p>
        </p:txBody>
      </p:sp>
      <p:sp>
        <p:nvSpPr>
          <p:cNvPr id="7" name="Text 5"/>
          <p:cNvSpPr txBox="1"/>
          <p:nvPr/>
        </p:nvSpPr>
        <p:spPr>
          <a:xfrm>
            <a:off x="502920" y="1609344"/>
            <a:ext cx="11000232" cy="384048"/>
          </a:xfrm>
          <a:prstGeom prst="rect">
            <a:avLst/>
          </a:prstGeom>
          <a:noFill/>
          <a:ln/>
        </p:spPr>
        <p:txBody>
          <a:bodyPr wrap="square" lIns="0" tIns="0" rIns="0" bIns="0" rtlCol="0" anchor="t"/>
          <a:lstStyle/>
          <a:p>
            <a:pPr indent="0" marL="0">
              <a:lnSpc>
                <a:spcPct val="95000"/>
              </a:lnSpc>
              <a:buNone/>
            </a:pPr>
            <a:r>
              <a:rPr lang="en-US" sz="1100" dirty="0">
                <a:solidFill>
                  <a:srgbClr val="4A5259"/>
                </a:solidFill>
                <a:latin typeface="Segoe UI" pitchFamily="34" charset="0"/>
                <a:ea typeface="Segoe UI" pitchFamily="34" charset="-122"/>
                <a:cs typeface="Segoe UI" pitchFamily="34" charset="-120"/>
              </a:rPr>
              <a:t>At H1 productivity the target would need 132 productive KAMs. Even fully staffed we average 105.8 — so the gap must be closed by productivity, coverage and lead flow.</a:t>
            </a:r>
            <a:endParaRPr lang="en-US" sz="1100" dirty="0"/>
          </a:p>
        </p:txBody>
      </p:sp>
      <p:sp>
        <p:nvSpPr>
          <p:cNvPr id="8" name="Text 6"/>
          <p:cNvSpPr txBox="1"/>
          <p:nvPr/>
        </p:nvSpPr>
        <p:spPr>
          <a:xfrm>
            <a:off x="502920" y="6437376"/>
            <a:ext cx="11183112" cy="274320"/>
          </a:xfrm>
          <a:prstGeom prst="rect">
            <a:avLst/>
          </a:prstGeom>
          <a:noFill/>
          <a:ln/>
        </p:spPr>
        <p:txBody>
          <a:bodyPr wrap="square" lIns="0" tIns="0" rIns="0" bIns="0" rtlCol="0" anchor="ctr"/>
          <a:lstStyle/>
          <a:p>
            <a:pPr indent="0" marL="0">
              <a:buNone/>
            </a:pPr>
            <a:r>
              <a:rPr lang="en-US" sz="780" i="1" dirty="0">
                <a:solidFill>
                  <a:srgbClr val="8A9299"/>
                </a:solidFill>
                <a:latin typeface="Segoe UI" pitchFamily="34" charset="0"/>
                <a:ea typeface="Segoe UI" pitchFamily="34" charset="-122"/>
                <a:cs typeface="Segoe UI" pitchFamily="34" charset="-120"/>
              </a:rPr>
              <a:t>ILLUSTRATIVE PLACEHOLDER DATA - replace with confirmed H1 2026 actuals and H2 2026 targets.  As of 26 August 2026.  AED millions.  ARR = MRC x 12; device value is one-time and is not annualised.</a:t>
            </a:r>
            <a:endParaRPr lang="en-US" sz="780" dirty="0"/>
          </a:p>
        </p:txBody>
      </p:sp>
      <p:sp>
        <p:nvSpPr>
          <p:cNvPr id="9" name="Text 7"/>
          <p:cNvSpPr txBox="1"/>
          <p:nvPr/>
        </p:nvSpPr>
        <p:spPr>
          <a:xfrm>
            <a:off x="502920" y="2011680"/>
            <a:ext cx="5486400" cy="256032"/>
          </a:xfrm>
          <a:prstGeom prst="rect">
            <a:avLst/>
          </a:prstGeom>
          <a:noFill/>
          <a:ln/>
        </p:spPr>
        <p:txBody>
          <a:bodyPr wrap="square" lIns="0" tIns="0" rIns="0" bIns="0" rtlCol="0" anchor="ctr"/>
          <a:lstStyle/>
          <a:p>
            <a:pPr indent="0" marL="0">
              <a:buNone/>
            </a:pPr>
            <a:r>
              <a:rPr lang="en-US" sz="1000" b="1" spc="120" kern="0" dirty="0">
                <a:solidFill>
                  <a:srgbClr val="4A5259"/>
                </a:solidFill>
                <a:latin typeface="Segoe UI" pitchFamily="34" charset="0"/>
                <a:ea typeface="Segoe UI" pitchFamily="34" charset="-122"/>
                <a:cs typeface="Segoe UI" pitchFamily="34" charset="-120"/>
              </a:rPr>
              <a:t>KAM capacity vs. requirement (productive FTE)</a:t>
            </a:r>
            <a:endParaRPr lang="en-US" sz="1000" dirty="0"/>
          </a:p>
        </p:txBody>
      </p:sp>
      <p:graphicFrame>
        <p:nvGraphicFramePr>
          <p:cNvPr id="10" name="Chart 0" descr=""/>
          <p:cNvGraphicFramePr/>
          <p:nvPr/>
        </p:nvGraphicFramePr>
        <p:xfrm>
          <a:off x="457200" y="2267712"/>
          <a:ext cx="5715000" cy="2761488"/>
        </p:xfrm>
        <a:graphic xmlns:a="http://schemas.openxmlformats.org/drawingml/2006/main">
          <a:graphicData uri="http://schemas.openxmlformats.org/drawingml/2006/chart">
            <c:chart xmlns:c="http://schemas.openxmlformats.org/drawingml/2006/chart" r:id="rId1"/>
          </a:graphicData>
        </a:graphic>
      </p:graphicFrame>
      <p:sp>
        <p:nvSpPr>
          <p:cNvPr id="11" name="Text 8"/>
          <p:cNvSpPr txBox="1"/>
          <p:nvPr/>
        </p:nvSpPr>
        <p:spPr>
          <a:xfrm>
            <a:off x="6355080" y="2011680"/>
            <a:ext cx="5394960" cy="256032"/>
          </a:xfrm>
          <a:prstGeom prst="rect">
            <a:avLst/>
          </a:prstGeom>
          <a:noFill/>
          <a:ln/>
        </p:spPr>
        <p:txBody>
          <a:bodyPr wrap="square" lIns="0" tIns="0" rIns="0" bIns="0" rtlCol="0" anchor="ctr"/>
          <a:lstStyle/>
          <a:p>
            <a:pPr indent="0" marL="0">
              <a:buNone/>
            </a:pPr>
            <a:r>
              <a:rPr lang="en-US" sz="1000" b="1" spc="120" kern="0" dirty="0">
                <a:solidFill>
                  <a:srgbClr val="4A5259"/>
                </a:solidFill>
                <a:latin typeface="Segoe UI" pitchFamily="34" charset="0"/>
                <a:ea typeface="Segoe UI" pitchFamily="34" charset="-122"/>
                <a:cs typeface="Segoe UI" pitchFamily="34" charset="-120"/>
              </a:rPr>
              <a:t>Vacancy and attrition trajectory (%)</a:t>
            </a:r>
            <a:endParaRPr lang="en-US" sz="1000" dirty="0"/>
          </a:p>
        </p:txBody>
      </p:sp>
      <p:graphicFrame>
        <p:nvGraphicFramePr>
          <p:cNvPr id="12" name="Chart 1" descr=""/>
          <p:cNvGraphicFramePr/>
          <p:nvPr/>
        </p:nvGraphicFramePr>
        <p:xfrm>
          <a:off x="6309360" y="2267712"/>
          <a:ext cx="5440680" cy="2761488"/>
        </p:xfrm>
        <a:graphic xmlns:a="http://schemas.openxmlformats.org/drawingml/2006/main">
          <a:graphicData uri="http://schemas.openxmlformats.org/drawingml/2006/chart">
            <c:chart xmlns:c="http://schemas.openxmlformats.org/drawingml/2006/chart" r:id="rId2"/>
          </a:graphicData>
        </a:graphic>
      </p:graphicFrame>
      <p:sp>
        <p:nvSpPr>
          <p:cNvPr id="13" name="Shape 9"/>
          <p:cNvSpPr/>
          <p:nvPr/>
        </p:nvSpPr>
        <p:spPr>
          <a:xfrm>
            <a:off x="502920" y="5175504"/>
            <a:ext cx="3566160" cy="1097280"/>
          </a:xfrm>
          <a:prstGeom prst="rect">
            <a:avLst/>
          </a:prstGeom>
          <a:solidFill>
            <a:srgbClr val="FFFFFF"/>
          </a:solidFill>
          <a:ln w="12700">
            <a:solidFill>
              <a:srgbClr val="E3E6E9"/>
            </a:solidFill>
            <a:prstDash val="solid"/>
          </a:ln>
        </p:spPr>
      </p:sp>
      <p:sp>
        <p:nvSpPr>
          <p:cNvPr id="14" name="Shape 10"/>
          <p:cNvSpPr/>
          <p:nvPr/>
        </p:nvSpPr>
        <p:spPr>
          <a:xfrm>
            <a:off x="502920" y="5175504"/>
            <a:ext cx="3566160" cy="41148"/>
          </a:xfrm>
          <a:prstGeom prst="rect">
            <a:avLst/>
          </a:prstGeom>
          <a:solidFill>
            <a:srgbClr val="C51230"/>
          </a:solidFill>
          <a:ln w="12700">
            <a:solidFill>
              <a:srgbClr val="C51230"/>
            </a:solidFill>
            <a:prstDash val="solid"/>
          </a:ln>
        </p:spPr>
      </p:sp>
      <p:sp>
        <p:nvSpPr>
          <p:cNvPr id="15" name="Text 11"/>
          <p:cNvSpPr txBox="1"/>
          <p:nvPr/>
        </p:nvSpPr>
        <p:spPr>
          <a:xfrm>
            <a:off x="667512" y="5285232"/>
            <a:ext cx="3246120" cy="310896"/>
          </a:xfrm>
          <a:prstGeom prst="rect">
            <a:avLst/>
          </a:prstGeom>
          <a:noFill/>
          <a:ln/>
        </p:spPr>
        <p:txBody>
          <a:bodyPr wrap="square" lIns="0" tIns="0" rIns="0" bIns="0" rtlCol="0" anchor="ctr"/>
          <a:lstStyle/>
          <a:p>
            <a:pPr indent="0" marL="0">
              <a:buNone/>
            </a:pPr>
            <a:r>
              <a:rPr lang="en-US" sz="1500" b="1" dirty="0">
                <a:solidFill>
                  <a:srgbClr val="1A1D21"/>
                </a:solidFill>
                <a:latin typeface="Segoe UI" pitchFamily="34" charset="0"/>
                <a:ea typeface="Segoe UI" pitchFamily="34" charset="-122"/>
                <a:cs typeface="Segoe UI" pitchFamily="34" charset="-120"/>
              </a:rPr>
              <a:t>104 of 120</a:t>
            </a:r>
            <a:endParaRPr lang="en-US" sz="1500" dirty="0"/>
          </a:p>
        </p:txBody>
      </p:sp>
      <p:sp>
        <p:nvSpPr>
          <p:cNvPr id="16" name="Text 12"/>
          <p:cNvSpPr txBox="1"/>
          <p:nvPr/>
        </p:nvSpPr>
        <p:spPr>
          <a:xfrm>
            <a:off x="667512" y="5577840"/>
            <a:ext cx="3246120" cy="219456"/>
          </a:xfrm>
          <a:prstGeom prst="rect">
            <a:avLst/>
          </a:prstGeom>
          <a:noFill/>
          <a:ln/>
        </p:spPr>
        <p:txBody>
          <a:bodyPr wrap="square" lIns="0" tIns="0" rIns="0" bIns="0" rtlCol="0" anchor="ctr"/>
          <a:lstStyle/>
          <a:p>
            <a:pPr indent="0" marL="0">
              <a:buNone/>
            </a:pPr>
            <a:r>
              <a:rPr lang="en-US" sz="900" b="1" dirty="0">
                <a:solidFill>
                  <a:srgbClr val="C51230"/>
                </a:solidFill>
                <a:latin typeface="Segoe UI" pitchFamily="34" charset="0"/>
                <a:ea typeface="Segoe UI" pitchFamily="34" charset="-122"/>
                <a:cs typeface="Segoe UI" pitchFamily="34" charset="-120"/>
              </a:rPr>
              <a:t>KAM positions filled today</a:t>
            </a:r>
            <a:endParaRPr lang="en-US" sz="900" dirty="0"/>
          </a:p>
        </p:txBody>
      </p:sp>
      <p:sp>
        <p:nvSpPr>
          <p:cNvPr id="17" name="Text 13"/>
          <p:cNvSpPr txBox="1"/>
          <p:nvPr/>
        </p:nvSpPr>
        <p:spPr>
          <a:xfrm>
            <a:off x="667512" y="5779008"/>
            <a:ext cx="3273552" cy="402336"/>
          </a:xfrm>
          <a:prstGeom prst="rect">
            <a:avLst/>
          </a:prstGeom>
          <a:noFill/>
          <a:ln/>
        </p:spPr>
        <p:txBody>
          <a:bodyPr wrap="square" lIns="0" tIns="0" rIns="0" bIns="0" rtlCol="0" anchor="t"/>
          <a:lstStyle/>
          <a:p>
            <a:pPr indent="0" marL="0">
              <a:lnSpc>
                <a:spcPct val="95000"/>
              </a:lnSpc>
              <a:buNone/>
            </a:pPr>
            <a:r>
              <a:rPr lang="en-US" sz="800" dirty="0">
                <a:solidFill>
                  <a:srgbClr val="8A9299"/>
                </a:solidFill>
                <a:latin typeface="Segoe UI" pitchFamily="34" charset="0"/>
                <a:ea typeface="Segoe UI" pitchFamily="34" charset="-122"/>
                <a:cs typeface="Segoe UI" pitchFamily="34" charset="-120"/>
              </a:rPr>
              <a:t>16 vacant portfolios hold AED 84M of recurring base</a:t>
            </a:r>
            <a:endParaRPr lang="en-US" sz="800" dirty="0"/>
          </a:p>
        </p:txBody>
      </p:sp>
      <p:sp>
        <p:nvSpPr>
          <p:cNvPr id="18" name="Shape 14"/>
          <p:cNvSpPr/>
          <p:nvPr/>
        </p:nvSpPr>
        <p:spPr>
          <a:xfrm>
            <a:off x="4251960" y="5175504"/>
            <a:ext cx="3566160" cy="1097280"/>
          </a:xfrm>
          <a:prstGeom prst="rect">
            <a:avLst/>
          </a:prstGeom>
          <a:solidFill>
            <a:srgbClr val="FFFFFF"/>
          </a:solidFill>
          <a:ln w="12700">
            <a:solidFill>
              <a:srgbClr val="E3E6E9"/>
            </a:solidFill>
            <a:prstDash val="solid"/>
          </a:ln>
        </p:spPr>
      </p:sp>
      <p:sp>
        <p:nvSpPr>
          <p:cNvPr id="19" name="Shape 15"/>
          <p:cNvSpPr/>
          <p:nvPr/>
        </p:nvSpPr>
        <p:spPr>
          <a:xfrm>
            <a:off x="4251960" y="5175504"/>
            <a:ext cx="3566160" cy="41148"/>
          </a:xfrm>
          <a:prstGeom prst="rect">
            <a:avLst/>
          </a:prstGeom>
          <a:solidFill>
            <a:srgbClr val="177F8C"/>
          </a:solidFill>
          <a:ln w="12700">
            <a:solidFill>
              <a:srgbClr val="177F8C"/>
            </a:solidFill>
            <a:prstDash val="solid"/>
          </a:ln>
        </p:spPr>
      </p:sp>
      <p:sp>
        <p:nvSpPr>
          <p:cNvPr id="20" name="Text 16"/>
          <p:cNvSpPr txBox="1"/>
          <p:nvPr/>
        </p:nvSpPr>
        <p:spPr>
          <a:xfrm>
            <a:off x="4416552" y="5285232"/>
            <a:ext cx="3246120" cy="310896"/>
          </a:xfrm>
          <a:prstGeom prst="rect">
            <a:avLst/>
          </a:prstGeom>
          <a:noFill/>
          <a:ln/>
        </p:spPr>
        <p:txBody>
          <a:bodyPr wrap="square" lIns="0" tIns="0" rIns="0" bIns="0" rtlCol="0" anchor="ctr"/>
          <a:lstStyle/>
          <a:p>
            <a:pPr indent="0" marL="0">
              <a:buNone/>
            </a:pPr>
            <a:r>
              <a:rPr lang="en-US" sz="1500" b="1" dirty="0">
                <a:solidFill>
                  <a:srgbClr val="1A1D21"/>
                </a:solidFill>
                <a:latin typeface="Segoe UI" pitchFamily="34" charset="0"/>
                <a:ea typeface="Segoe UI" pitchFamily="34" charset="-122"/>
                <a:cs typeface="Segoe UI" pitchFamily="34" charset="-120"/>
              </a:rPr>
              <a:t>AED 427k → 534k</a:t>
            </a:r>
            <a:endParaRPr lang="en-US" sz="1500" dirty="0"/>
          </a:p>
        </p:txBody>
      </p:sp>
      <p:sp>
        <p:nvSpPr>
          <p:cNvPr id="21" name="Text 17"/>
          <p:cNvSpPr txBox="1"/>
          <p:nvPr/>
        </p:nvSpPr>
        <p:spPr>
          <a:xfrm>
            <a:off x="4416552" y="5577840"/>
            <a:ext cx="3246120" cy="219456"/>
          </a:xfrm>
          <a:prstGeom prst="rect">
            <a:avLst/>
          </a:prstGeom>
          <a:noFill/>
          <a:ln/>
        </p:spPr>
        <p:txBody>
          <a:bodyPr wrap="square" lIns="0" tIns="0" rIns="0" bIns="0" rtlCol="0" anchor="ctr"/>
          <a:lstStyle/>
          <a:p>
            <a:pPr indent="0" marL="0">
              <a:buNone/>
            </a:pPr>
            <a:r>
              <a:rPr lang="en-US" sz="900" b="1" dirty="0">
                <a:solidFill>
                  <a:srgbClr val="177F8C"/>
                </a:solidFill>
                <a:latin typeface="Segoe UI" pitchFamily="34" charset="0"/>
                <a:ea typeface="Segoe UI" pitchFamily="34" charset="-122"/>
                <a:cs typeface="Segoe UI" pitchFamily="34" charset="-120"/>
              </a:rPr>
              <a:t>Incremental ARR per productive KAM, per half</a:t>
            </a:r>
            <a:endParaRPr lang="en-US" sz="900" dirty="0"/>
          </a:p>
        </p:txBody>
      </p:sp>
      <p:sp>
        <p:nvSpPr>
          <p:cNvPr id="22" name="Text 18"/>
          <p:cNvSpPr txBox="1"/>
          <p:nvPr/>
        </p:nvSpPr>
        <p:spPr>
          <a:xfrm>
            <a:off x="4416552" y="5779008"/>
            <a:ext cx="3273552" cy="402336"/>
          </a:xfrm>
          <a:prstGeom prst="rect">
            <a:avLst/>
          </a:prstGeom>
          <a:noFill/>
          <a:ln/>
        </p:spPr>
        <p:txBody>
          <a:bodyPr wrap="square" lIns="0" tIns="0" rIns="0" bIns="0" rtlCol="0" anchor="t"/>
          <a:lstStyle/>
          <a:p>
            <a:pPr indent="0" marL="0">
              <a:lnSpc>
                <a:spcPct val="95000"/>
              </a:lnSpc>
              <a:buNone/>
            </a:pPr>
            <a:r>
              <a:rPr lang="en-US" sz="800" dirty="0">
                <a:solidFill>
                  <a:srgbClr val="8A9299"/>
                </a:solidFill>
                <a:latin typeface="Segoe UI" pitchFamily="34" charset="0"/>
                <a:ea typeface="Segoe UI" pitchFamily="34" charset="-122"/>
                <a:cs typeface="Segoe UI" pitchFamily="34" charset="-120"/>
              </a:rPr>
              <a:t>+25% — delivered by selling time, next-best-action and lead flow</a:t>
            </a:r>
            <a:endParaRPr lang="en-US" sz="800" dirty="0"/>
          </a:p>
        </p:txBody>
      </p:sp>
      <p:sp>
        <p:nvSpPr>
          <p:cNvPr id="23" name="Shape 19"/>
          <p:cNvSpPr/>
          <p:nvPr/>
        </p:nvSpPr>
        <p:spPr>
          <a:xfrm>
            <a:off x="8001000" y="5175504"/>
            <a:ext cx="3566160" cy="1097280"/>
          </a:xfrm>
          <a:prstGeom prst="rect">
            <a:avLst/>
          </a:prstGeom>
          <a:solidFill>
            <a:srgbClr val="FFFFFF"/>
          </a:solidFill>
          <a:ln w="12700">
            <a:solidFill>
              <a:srgbClr val="E3E6E9"/>
            </a:solidFill>
            <a:prstDash val="solid"/>
          </a:ln>
        </p:spPr>
      </p:sp>
      <p:sp>
        <p:nvSpPr>
          <p:cNvPr id="24" name="Shape 20"/>
          <p:cNvSpPr/>
          <p:nvPr/>
        </p:nvSpPr>
        <p:spPr>
          <a:xfrm>
            <a:off x="8001000" y="5175504"/>
            <a:ext cx="3566160" cy="41148"/>
          </a:xfrm>
          <a:prstGeom prst="rect">
            <a:avLst/>
          </a:prstGeom>
          <a:solidFill>
            <a:srgbClr val="F2730A"/>
          </a:solidFill>
          <a:ln w="12700">
            <a:solidFill>
              <a:srgbClr val="F2730A"/>
            </a:solidFill>
            <a:prstDash val="solid"/>
          </a:ln>
        </p:spPr>
      </p:sp>
      <p:sp>
        <p:nvSpPr>
          <p:cNvPr id="25" name="Text 21"/>
          <p:cNvSpPr txBox="1"/>
          <p:nvPr/>
        </p:nvSpPr>
        <p:spPr>
          <a:xfrm>
            <a:off x="8165592" y="5285232"/>
            <a:ext cx="3246120" cy="310896"/>
          </a:xfrm>
          <a:prstGeom prst="rect">
            <a:avLst/>
          </a:prstGeom>
          <a:noFill/>
          <a:ln/>
        </p:spPr>
        <p:txBody>
          <a:bodyPr wrap="square" lIns="0" tIns="0" rIns="0" bIns="0" rtlCol="0" anchor="ctr"/>
          <a:lstStyle/>
          <a:p>
            <a:pPr indent="0" marL="0">
              <a:buNone/>
            </a:pPr>
            <a:r>
              <a:rPr lang="en-US" sz="1500" b="1" dirty="0">
                <a:solidFill>
                  <a:srgbClr val="1A1D21"/>
                </a:solidFill>
                <a:latin typeface="Segoe UI" pitchFamily="34" charset="0"/>
                <a:ea typeface="Segoe UI" pitchFamily="34" charset="-122"/>
                <a:cs typeface="Segoe UI" pitchFamily="34" charset="-120"/>
              </a:rPr>
              <a:t>21% → 14%</a:t>
            </a:r>
            <a:endParaRPr lang="en-US" sz="1500" dirty="0"/>
          </a:p>
        </p:txBody>
      </p:sp>
      <p:sp>
        <p:nvSpPr>
          <p:cNvPr id="26" name="Text 22"/>
          <p:cNvSpPr txBox="1"/>
          <p:nvPr/>
        </p:nvSpPr>
        <p:spPr>
          <a:xfrm>
            <a:off x="8165592" y="5577840"/>
            <a:ext cx="3246120" cy="219456"/>
          </a:xfrm>
          <a:prstGeom prst="rect">
            <a:avLst/>
          </a:prstGeom>
          <a:noFill/>
          <a:ln/>
        </p:spPr>
        <p:txBody>
          <a:bodyPr wrap="square" lIns="0" tIns="0" rIns="0" bIns="0" rtlCol="0" anchor="ctr"/>
          <a:lstStyle/>
          <a:p>
            <a:pPr indent="0" marL="0">
              <a:buNone/>
            </a:pPr>
            <a:r>
              <a:rPr lang="en-US" sz="900" b="1" dirty="0">
                <a:solidFill>
                  <a:srgbClr val="F2730A"/>
                </a:solidFill>
                <a:latin typeface="Segoe UI" pitchFamily="34" charset="0"/>
                <a:ea typeface="Segoe UI" pitchFamily="34" charset="-122"/>
                <a:cs typeface="Segoe UI" pitchFamily="34" charset="-120"/>
              </a:rPr>
              <a:t>Rolling KAM attrition</a:t>
            </a:r>
            <a:endParaRPr lang="en-US" sz="900" dirty="0"/>
          </a:p>
        </p:txBody>
      </p:sp>
      <p:sp>
        <p:nvSpPr>
          <p:cNvPr id="27" name="Text 23"/>
          <p:cNvSpPr txBox="1"/>
          <p:nvPr/>
        </p:nvSpPr>
        <p:spPr>
          <a:xfrm>
            <a:off x="8165592" y="5779008"/>
            <a:ext cx="3273552" cy="402336"/>
          </a:xfrm>
          <a:prstGeom prst="rect">
            <a:avLst/>
          </a:prstGeom>
          <a:noFill/>
          <a:ln/>
        </p:spPr>
        <p:txBody>
          <a:bodyPr wrap="square" lIns="0" tIns="0" rIns="0" bIns="0" rtlCol="0" anchor="t"/>
          <a:lstStyle/>
          <a:p>
            <a:pPr indent="0" marL="0">
              <a:lnSpc>
                <a:spcPct val="95000"/>
              </a:lnSpc>
              <a:buNone/>
            </a:pPr>
            <a:r>
              <a:rPr lang="en-US" sz="800" dirty="0">
                <a:solidFill>
                  <a:srgbClr val="8A9299"/>
                </a:solidFill>
                <a:latin typeface="Segoe UI" pitchFamily="34" charset="0"/>
                <a:ea typeface="Segoe UI" pitchFamily="34" charset="-122"/>
                <a:cs typeface="Segoe UI" pitchFamily="34" charset="-120"/>
              </a:rPr>
              <a:t>Regretted attrition 13% → 7%; every exit costs ~4 months of portfolio momentum</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A1D21"/>
        </a:solidFill>
      </p:bgPr>
    </p:bg>
    <p:spTree>
      <p:nvGrpSpPr>
        <p:cNvPr id="1" name=""/>
        <p:cNvGrpSpPr/>
        <p:nvPr/>
      </p:nvGrpSpPr>
      <p:grpSpPr>
        <a:xfrm>
          <a:off x="0" y="0"/>
          <a:ext cx="0" cy="0"/>
          <a:chOff x="0" y="0"/>
          <a:chExt cx="0" cy="0"/>
        </a:xfrm>
      </p:grpSpPr>
      <p:sp>
        <p:nvSpPr>
          <p:cNvPr id="2" name="Shape 0"/>
          <p:cNvSpPr/>
          <p:nvPr/>
        </p:nvSpPr>
        <p:spPr>
          <a:xfrm>
            <a:off x="502920" y="365760"/>
            <a:ext cx="402336" cy="402336"/>
          </a:xfrm>
          <a:prstGeom prst="roundRect">
            <a:avLst>
              <a:gd name="adj" fmla="val 22727"/>
            </a:avLst>
          </a:prstGeom>
          <a:solidFill>
            <a:srgbClr val="C51230"/>
          </a:solidFill>
          <a:ln w="12700">
            <a:solidFill>
              <a:srgbClr val="C51230"/>
            </a:solidFill>
            <a:prstDash val="solid"/>
          </a:ln>
        </p:spPr>
      </p:sp>
      <p:sp>
        <p:nvSpPr>
          <p:cNvPr id="3" name="Text 1"/>
          <p:cNvSpPr txBox="1"/>
          <p:nvPr/>
        </p:nvSpPr>
        <p:spPr>
          <a:xfrm>
            <a:off x="502920" y="365760"/>
            <a:ext cx="402336" cy="402336"/>
          </a:xfrm>
          <a:prstGeom prst="rect">
            <a:avLst/>
          </a:prstGeom>
          <a:noFill/>
          <a:ln/>
        </p:spPr>
        <p:txBody>
          <a:bodyPr wrap="square" lIns="0" tIns="0" rIns="0" bIns="0" rtlCol="0" anchor="ctr"/>
          <a:lstStyle/>
          <a:p>
            <a:pPr algn="ctr" indent="0" marL="0">
              <a:buNone/>
            </a:pPr>
            <a:r>
              <a:rPr lang="en-US" sz="1900" b="1" dirty="0">
                <a:solidFill>
                  <a:srgbClr val="FFFFFF"/>
                </a:solidFill>
                <a:latin typeface="Segoe UI" pitchFamily="34" charset="0"/>
                <a:ea typeface="Segoe UI" pitchFamily="34" charset="-122"/>
                <a:cs typeface="Segoe UI" pitchFamily="34" charset="-120"/>
              </a:rPr>
              <a:t>&amp;</a:t>
            </a:r>
            <a:endParaRPr lang="en-US" sz="1900" dirty="0"/>
          </a:p>
        </p:txBody>
      </p:sp>
      <p:sp>
        <p:nvSpPr>
          <p:cNvPr id="4" name="Text 2"/>
          <p:cNvSpPr txBox="1"/>
          <p:nvPr/>
        </p:nvSpPr>
        <p:spPr>
          <a:xfrm>
            <a:off x="1051560" y="365760"/>
            <a:ext cx="6400800" cy="402336"/>
          </a:xfrm>
          <a:prstGeom prst="rect">
            <a:avLst/>
          </a:prstGeom>
          <a:noFill/>
          <a:ln/>
        </p:spPr>
        <p:txBody>
          <a:bodyPr wrap="square" lIns="0" tIns="0" rIns="0" bIns="0" rtlCol="0" anchor="ctr"/>
          <a:lstStyle/>
          <a:p>
            <a:pPr indent="0" marL="0">
              <a:buNone/>
            </a:pPr>
            <a:r>
              <a:rPr lang="en-US" sz="950" b="1" spc="220" kern="0" dirty="0">
                <a:solidFill>
                  <a:srgbClr val="8A9299"/>
                </a:solidFill>
                <a:latin typeface="Segoe UI" pitchFamily="34" charset="0"/>
                <a:ea typeface="Segoe UI" pitchFamily="34" charset="-122"/>
                <a:cs typeface="Segoe UI" pitchFamily="34" charset="-120"/>
              </a:rPr>
              <a:t>EXECUTION, GOVERNANCE AND DECISIONS</a:t>
            </a:r>
            <a:endParaRPr lang="en-US" sz="950" dirty="0"/>
          </a:p>
        </p:txBody>
      </p:sp>
      <p:sp>
        <p:nvSpPr>
          <p:cNvPr id="5" name="Text 3"/>
          <p:cNvSpPr txBox="1"/>
          <p:nvPr/>
        </p:nvSpPr>
        <p:spPr>
          <a:xfrm>
            <a:off x="11183112" y="365760"/>
            <a:ext cx="502920" cy="402336"/>
          </a:xfrm>
          <a:prstGeom prst="rect">
            <a:avLst/>
          </a:prstGeom>
          <a:noFill/>
          <a:ln/>
        </p:spPr>
        <p:txBody>
          <a:bodyPr wrap="square" lIns="0" tIns="0" rIns="0" bIns="0" rtlCol="0" anchor="ctr"/>
          <a:lstStyle/>
          <a:p>
            <a:pPr algn="r" indent="0" marL="0">
              <a:buNone/>
            </a:pPr>
            <a:r>
              <a:rPr lang="en-US" sz="1100" b="1" dirty="0">
                <a:solidFill>
                  <a:srgbClr val="4A5259"/>
                </a:solidFill>
                <a:latin typeface="Segoe UI" pitchFamily="34" charset="0"/>
                <a:ea typeface="Segoe UI" pitchFamily="34" charset="-122"/>
                <a:cs typeface="Segoe UI" pitchFamily="34" charset="-120"/>
              </a:rPr>
              <a:t>04</a:t>
            </a:r>
            <a:endParaRPr lang="en-US" sz="1100" dirty="0"/>
          </a:p>
        </p:txBody>
      </p:sp>
      <p:sp>
        <p:nvSpPr>
          <p:cNvPr id="6" name="Text 4"/>
          <p:cNvSpPr txBox="1"/>
          <p:nvPr/>
        </p:nvSpPr>
        <p:spPr>
          <a:xfrm>
            <a:off x="502920" y="896112"/>
            <a:ext cx="11000232" cy="713232"/>
          </a:xfrm>
          <a:prstGeom prst="rect">
            <a:avLst/>
          </a:prstGeom>
          <a:noFill/>
          <a:ln/>
        </p:spPr>
        <p:txBody>
          <a:bodyPr wrap="square" lIns="0" tIns="0" rIns="0" bIns="0" rtlCol="0" anchor="t"/>
          <a:lstStyle/>
          <a:p>
            <a:pPr indent="0" marL="0">
              <a:lnSpc>
                <a:spcPct val="95000"/>
              </a:lnSpc>
              <a:buNone/>
            </a:pPr>
            <a:r>
              <a:rPr lang="en-US" sz="2100" b="1" dirty="0">
                <a:solidFill>
                  <a:srgbClr val="FFFFFF"/>
                </a:solidFill>
                <a:latin typeface="Segoe UI" pitchFamily="34" charset="0"/>
                <a:ea typeface="Segoe UI" pitchFamily="34" charset="-122"/>
                <a:cs typeface="Segoe UI" pitchFamily="34" charset="-120"/>
              </a:rPr>
              <a:t>Three waves, one weekly rhythm, three decisions needed now</a:t>
            </a:r>
            <a:endParaRPr lang="en-US" sz="2100" dirty="0"/>
          </a:p>
        </p:txBody>
      </p:sp>
      <p:sp>
        <p:nvSpPr>
          <p:cNvPr id="7" name="Text 5"/>
          <p:cNvSpPr txBox="1"/>
          <p:nvPr/>
        </p:nvSpPr>
        <p:spPr>
          <a:xfrm>
            <a:off x="502920" y="1609344"/>
            <a:ext cx="11000232" cy="384048"/>
          </a:xfrm>
          <a:prstGeom prst="rect">
            <a:avLst/>
          </a:prstGeom>
          <a:noFill/>
          <a:ln/>
        </p:spPr>
        <p:txBody>
          <a:bodyPr wrap="square" lIns="0" tIns="0" rIns="0" bIns="0" rtlCol="0" anchor="t"/>
          <a:lstStyle/>
          <a:p>
            <a:pPr indent="0" marL="0">
              <a:lnSpc>
                <a:spcPct val="95000"/>
              </a:lnSpc>
              <a:buNone/>
            </a:pPr>
            <a:r>
              <a:rPr lang="en-US" sz="1100" dirty="0">
                <a:solidFill>
                  <a:srgbClr val="8A9299"/>
                </a:solidFill>
                <a:latin typeface="Segoe UI" pitchFamily="34" charset="0"/>
                <a:ea typeface="Segoe UI" pitchFamily="34" charset="-122"/>
                <a:cs typeface="Segoe UI" pitchFamily="34" charset="-120"/>
              </a:rPr>
              <a:t>Every initiative has an owner, a leading indicator and a stop/scale review. The build is back-loaded, so the first 30 days decide the half.</a:t>
            </a:r>
            <a:endParaRPr lang="en-US" sz="1100" dirty="0"/>
          </a:p>
        </p:txBody>
      </p:sp>
      <p:sp>
        <p:nvSpPr>
          <p:cNvPr id="8" name="Text 6"/>
          <p:cNvSpPr txBox="1"/>
          <p:nvPr/>
        </p:nvSpPr>
        <p:spPr>
          <a:xfrm>
            <a:off x="502920" y="6437376"/>
            <a:ext cx="11183112" cy="274320"/>
          </a:xfrm>
          <a:prstGeom prst="rect">
            <a:avLst/>
          </a:prstGeom>
          <a:noFill/>
          <a:ln/>
        </p:spPr>
        <p:txBody>
          <a:bodyPr wrap="square" lIns="0" tIns="0" rIns="0" bIns="0" rtlCol="0" anchor="ctr"/>
          <a:lstStyle/>
          <a:p>
            <a:pPr indent="0" marL="0">
              <a:buNone/>
            </a:pPr>
            <a:r>
              <a:rPr lang="en-US" sz="780" i="1" dirty="0">
                <a:solidFill>
                  <a:srgbClr val="4A5259"/>
                </a:solidFill>
                <a:latin typeface="Segoe UI" pitchFamily="34" charset="0"/>
                <a:ea typeface="Segoe UI" pitchFamily="34" charset="-122"/>
                <a:cs typeface="Segoe UI" pitchFamily="34" charset="-120"/>
              </a:rPr>
              <a:t>ILLUSTRATIVE PLACEHOLDER DATA - replace with confirmed H1 2026 actuals and H2 2026 targets.  As of 26 August 2026.  AED millions.  ARR = MRC x 12; device value is one-time and is not annualised.</a:t>
            </a:r>
            <a:endParaRPr lang="en-US" sz="780" dirty="0"/>
          </a:p>
        </p:txBody>
      </p:sp>
      <p:sp>
        <p:nvSpPr>
          <p:cNvPr id="9" name="Shape 7"/>
          <p:cNvSpPr/>
          <p:nvPr/>
        </p:nvSpPr>
        <p:spPr>
          <a:xfrm>
            <a:off x="502920" y="1993392"/>
            <a:ext cx="3639312" cy="1938528"/>
          </a:xfrm>
          <a:prstGeom prst="rect">
            <a:avLst/>
          </a:prstGeom>
          <a:solidFill>
            <a:srgbClr val="22262B"/>
          </a:solidFill>
          <a:ln w="12700">
            <a:solidFill>
              <a:srgbClr val="2E3338"/>
            </a:solidFill>
            <a:prstDash val="solid"/>
          </a:ln>
        </p:spPr>
      </p:sp>
      <p:sp>
        <p:nvSpPr>
          <p:cNvPr id="10" name="Shape 8"/>
          <p:cNvSpPr/>
          <p:nvPr/>
        </p:nvSpPr>
        <p:spPr>
          <a:xfrm>
            <a:off x="502920" y="1993392"/>
            <a:ext cx="3639312" cy="45720"/>
          </a:xfrm>
          <a:prstGeom prst="rect">
            <a:avLst/>
          </a:prstGeom>
          <a:solidFill>
            <a:srgbClr val="E8112D"/>
          </a:solidFill>
          <a:ln w="12700">
            <a:solidFill>
              <a:srgbClr val="E8112D"/>
            </a:solidFill>
            <a:prstDash val="solid"/>
          </a:ln>
        </p:spPr>
      </p:sp>
      <p:sp>
        <p:nvSpPr>
          <p:cNvPr id="11" name="Text 9"/>
          <p:cNvSpPr txBox="1"/>
          <p:nvPr/>
        </p:nvSpPr>
        <p:spPr>
          <a:xfrm>
            <a:off x="685800" y="2103120"/>
            <a:ext cx="1828800" cy="219456"/>
          </a:xfrm>
          <a:prstGeom prst="rect">
            <a:avLst/>
          </a:prstGeom>
          <a:noFill/>
          <a:ln/>
        </p:spPr>
        <p:txBody>
          <a:bodyPr wrap="square" lIns="0" tIns="0" rIns="0" bIns="0" rtlCol="0" anchor="ctr"/>
          <a:lstStyle/>
          <a:p>
            <a:pPr indent="0" marL="0">
              <a:buNone/>
            </a:pPr>
            <a:r>
              <a:rPr lang="en-US" sz="850" b="1" spc="160" kern="0" dirty="0">
                <a:solidFill>
                  <a:srgbClr val="E8112D"/>
                </a:solidFill>
                <a:latin typeface="Segoe UI" pitchFamily="34" charset="0"/>
                <a:ea typeface="Segoe UI" pitchFamily="34" charset="-122"/>
                <a:cs typeface="Segoe UI" pitchFamily="34" charset="-120"/>
              </a:rPr>
              <a:t>DAYS 0–30</a:t>
            </a:r>
            <a:endParaRPr lang="en-US" sz="850" dirty="0"/>
          </a:p>
        </p:txBody>
      </p:sp>
      <p:sp>
        <p:nvSpPr>
          <p:cNvPr id="12" name="Text 10"/>
          <p:cNvSpPr txBox="1"/>
          <p:nvPr/>
        </p:nvSpPr>
        <p:spPr>
          <a:xfrm>
            <a:off x="685800" y="2304288"/>
            <a:ext cx="3291840" cy="256032"/>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Stabilise the base</a:t>
            </a:r>
            <a:endParaRPr lang="en-US" sz="1300" dirty="0"/>
          </a:p>
        </p:txBody>
      </p:sp>
      <p:sp>
        <p:nvSpPr>
          <p:cNvPr id="13" name="Text 11"/>
          <p:cNvSpPr txBox="1"/>
          <p:nvPr/>
        </p:nvSpPr>
        <p:spPr>
          <a:xfrm>
            <a:off x="685800" y="2596896"/>
            <a:ext cx="3310128" cy="1280160"/>
          </a:xfrm>
          <a:prstGeom prst="rect">
            <a:avLst/>
          </a:prstGeom>
          <a:noFill/>
          <a:ln/>
        </p:spPr>
        <p:txBody>
          <a:bodyPr wrap="square" lIns="0" tIns="0" rIns="0" bIns="0" rtlCol="0" anchor="ctr"/>
          <a:lstStyle/>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Zero-vacancy sprint: 16 offers out, bridge coverage on every orphan portfolio within 5 working days</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Churn Early-Warning Index live in Power Apps; Red/Amber tiering on 100% of the managed base</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Pipeline hygiene reset: stage gates, mandatory next action, ECD clean-up to &gt;95% data quality</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Baseline lock with Finance: ARR, protection and churn definitions signed off</a:t>
            </a:r>
            <a:endParaRPr lang="en-US" sz="860" dirty="0"/>
          </a:p>
        </p:txBody>
      </p:sp>
      <p:sp>
        <p:nvSpPr>
          <p:cNvPr id="14" name="Shape 12"/>
          <p:cNvSpPr/>
          <p:nvPr/>
        </p:nvSpPr>
        <p:spPr>
          <a:xfrm>
            <a:off x="4315968" y="1993392"/>
            <a:ext cx="3639312" cy="1938528"/>
          </a:xfrm>
          <a:prstGeom prst="rect">
            <a:avLst/>
          </a:prstGeom>
          <a:solidFill>
            <a:srgbClr val="22262B"/>
          </a:solidFill>
          <a:ln w="12700">
            <a:solidFill>
              <a:srgbClr val="2E3338"/>
            </a:solidFill>
            <a:prstDash val="solid"/>
          </a:ln>
        </p:spPr>
      </p:sp>
      <p:sp>
        <p:nvSpPr>
          <p:cNvPr id="15" name="Shape 13"/>
          <p:cNvSpPr/>
          <p:nvPr/>
        </p:nvSpPr>
        <p:spPr>
          <a:xfrm>
            <a:off x="4315968" y="1993392"/>
            <a:ext cx="3639312" cy="45720"/>
          </a:xfrm>
          <a:prstGeom prst="rect">
            <a:avLst/>
          </a:prstGeom>
          <a:solidFill>
            <a:srgbClr val="F2730A"/>
          </a:solidFill>
          <a:ln w="12700">
            <a:solidFill>
              <a:srgbClr val="F2730A"/>
            </a:solidFill>
            <a:prstDash val="solid"/>
          </a:ln>
        </p:spPr>
      </p:sp>
      <p:sp>
        <p:nvSpPr>
          <p:cNvPr id="16" name="Text 14"/>
          <p:cNvSpPr txBox="1"/>
          <p:nvPr/>
        </p:nvSpPr>
        <p:spPr>
          <a:xfrm>
            <a:off x="4498848" y="2103120"/>
            <a:ext cx="1828800" cy="219456"/>
          </a:xfrm>
          <a:prstGeom prst="rect">
            <a:avLst/>
          </a:prstGeom>
          <a:noFill/>
          <a:ln/>
        </p:spPr>
        <p:txBody>
          <a:bodyPr wrap="square" lIns="0" tIns="0" rIns="0" bIns="0" rtlCol="0" anchor="ctr"/>
          <a:lstStyle/>
          <a:p>
            <a:pPr indent="0" marL="0">
              <a:buNone/>
            </a:pPr>
            <a:r>
              <a:rPr lang="en-US" sz="850" b="1" spc="160" kern="0" dirty="0">
                <a:solidFill>
                  <a:srgbClr val="F2730A"/>
                </a:solidFill>
                <a:latin typeface="Segoe UI" pitchFamily="34" charset="0"/>
                <a:ea typeface="Segoe UI" pitchFamily="34" charset="-122"/>
                <a:cs typeface="Segoe UI" pitchFamily="34" charset="-120"/>
              </a:rPr>
              <a:t>DAYS 31–60</a:t>
            </a:r>
            <a:endParaRPr lang="en-US" sz="850" dirty="0"/>
          </a:p>
        </p:txBody>
      </p:sp>
      <p:sp>
        <p:nvSpPr>
          <p:cNvPr id="17" name="Text 15"/>
          <p:cNvSpPr txBox="1"/>
          <p:nvPr/>
        </p:nvSpPr>
        <p:spPr>
          <a:xfrm>
            <a:off x="4498848" y="2304288"/>
            <a:ext cx="3291840" cy="256032"/>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Lift the engine</a:t>
            </a:r>
            <a:endParaRPr lang="en-US" sz="1300" dirty="0"/>
          </a:p>
        </p:txBody>
      </p:sp>
      <p:sp>
        <p:nvSpPr>
          <p:cNvPr id="18" name="Text 16"/>
          <p:cNvSpPr txBox="1"/>
          <p:nvPr/>
        </p:nvSpPr>
        <p:spPr>
          <a:xfrm>
            <a:off x="4498848" y="2596896"/>
            <a:ext cx="3310128" cy="1280160"/>
          </a:xfrm>
          <a:prstGeom prst="rect">
            <a:avLst/>
          </a:prstGeom>
          <a:noFill/>
          <a:ln/>
        </p:spPr>
        <p:txBody>
          <a:bodyPr wrap="square" lIns="0" tIns="0" rIns="0" bIns="0" rtlCol="0" anchor="ctr"/>
          <a:lstStyle/>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Save-play playbook deployed; 90% of Red accounts touched within 10 days of trigger</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Admin-elimination backlog: remove 6 hours/KAM/week of non-selling work</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Always-on CVM journeys 3 → 9; digital lead-to-KAM SLA of 24 hours enforced</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AI Opportunity Spotting rollout: every KAM certified, 2 VALUE-scored leads each</a:t>
            </a:r>
            <a:endParaRPr lang="en-US" sz="860" dirty="0"/>
          </a:p>
        </p:txBody>
      </p:sp>
      <p:sp>
        <p:nvSpPr>
          <p:cNvPr id="19" name="Shape 17"/>
          <p:cNvSpPr/>
          <p:nvPr/>
        </p:nvSpPr>
        <p:spPr>
          <a:xfrm>
            <a:off x="8129016" y="1993392"/>
            <a:ext cx="3639312" cy="1938528"/>
          </a:xfrm>
          <a:prstGeom prst="rect">
            <a:avLst/>
          </a:prstGeom>
          <a:solidFill>
            <a:srgbClr val="22262B"/>
          </a:solidFill>
          <a:ln w="12700">
            <a:solidFill>
              <a:srgbClr val="2E3338"/>
            </a:solidFill>
            <a:prstDash val="solid"/>
          </a:ln>
        </p:spPr>
      </p:sp>
      <p:sp>
        <p:nvSpPr>
          <p:cNvPr id="20" name="Shape 18"/>
          <p:cNvSpPr/>
          <p:nvPr/>
        </p:nvSpPr>
        <p:spPr>
          <a:xfrm>
            <a:off x="8129016" y="1993392"/>
            <a:ext cx="3639312" cy="45720"/>
          </a:xfrm>
          <a:prstGeom prst="rect">
            <a:avLst/>
          </a:prstGeom>
          <a:solidFill>
            <a:srgbClr val="177F8C"/>
          </a:solidFill>
          <a:ln w="12700">
            <a:solidFill>
              <a:srgbClr val="177F8C"/>
            </a:solidFill>
            <a:prstDash val="solid"/>
          </a:ln>
        </p:spPr>
      </p:sp>
      <p:sp>
        <p:nvSpPr>
          <p:cNvPr id="21" name="Text 19"/>
          <p:cNvSpPr txBox="1"/>
          <p:nvPr/>
        </p:nvSpPr>
        <p:spPr>
          <a:xfrm>
            <a:off x="8311896" y="2103120"/>
            <a:ext cx="1828800" cy="219456"/>
          </a:xfrm>
          <a:prstGeom prst="rect">
            <a:avLst/>
          </a:prstGeom>
          <a:noFill/>
          <a:ln/>
        </p:spPr>
        <p:txBody>
          <a:bodyPr wrap="square" lIns="0" tIns="0" rIns="0" bIns="0" rtlCol="0" anchor="ctr"/>
          <a:lstStyle/>
          <a:p>
            <a:pPr indent="0" marL="0">
              <a:buNone/>
            </a:pPr>
            <a:r>
              <a:rPr lang="en-US" sz="850" b="1" spc="160" kern="0" dirty="0">
                <a:solidFill>
                  <a:srgbClr val="177F8C"/>
                </a:solidFill>
                <a:latin typeface="Segoe UI" pitchFamily="34" charset="0"/>
                <a:ea typeface="Segoe UI" pitchFamily="34" charset="-122"/>
                <a:cs typeface="Segoe UI" pitchFamily="34" charset="-120"/>
              </a:rPr>
              <a:t>DAYS 61–90</a:t>
            </a:r>
            <a:endParaRPr lang="en-US" sz="850" dirty="0"/>
          </a:p>
        </p:txBody>
      </p:sp>
      <p:sp>
        <p:nvSpPr>
          <p:cNvPr id="22" name="Text 20"/>
          <p:cNvSpPr txBox="1"/>
          <p:nvPr/>
        </p:nvSpPr>
        <p:spPr>
          <a:xfrm>
            <a:off x="8311896" y="2304288"/>
            <a:ext cx="3291840" cy="256032"/>
          </a:xfrm>
          <a:prstGeom prst="rect">
            <a:avLst/>
          </a:prstGeom>
          <a:noFill/>
          <a:ln/>
        </p:spPr>
        <p:txBody>
          <a:bodyPr wrap="square" lIns="0" tIns="0" rIns="0" bIns="0" rtlCol="0" anchor="ctr"/>
          <a:lstStyle/>
          <a:p>
            <a:pPr indent="0" marL="0">
              <a:buNone/>
            </a:pPr>
            <a:r>
              <a:rPr lang="en-US" sz="1300" b="1" dirty="0">
                <a:solidFill>
                  <a:srgbClr val="FFFFFF"/>
                </a:solidFill>
                <a:latin typeface="Segoe UI" pitchFamily="34" charset="0"/>
                <a:ea typeface="Segoe UI" pitchFamily="34" charset="-122"/>
                <a:cs typeface="Segoe UI" pitchFamily="34" charset="-120"/>
              </a:rPr>
              <a:t>Scale what works</a:t>
            </a:r>
            <a:endParaRPr lang="en-US" sz="1300" dirty="0"/>
          </a:p>
        </p:txBody>
      </p:sp>
      <p:sp>
        <p:nvSpPr>
          <p:cNvPr id="23" name="Text 21"/>
          <p:cNvSpPr txBox="1"/>
          <p:nvPr/>
        </p:nvSpPr>
        <p:spPr>
          <a:xfrm>
            <a:off x="8311896" y="2596896"/>
            <a:ext cx="3310128" cy="1280160"/>
          </a:xfrm>
          <a:prstGeom prst="rect">
            <a:avLst/>
          </a:prstGeom>
          <a:noFill/>
          <a:ln/>
        </p:spPr>
        <p:txBody>
          <a:bodyPr wrap="square" lIns="0" tIns="0" rIns="0" bIns="0" rtlCol="0" anchor="ctr"/>
          <a:lstStyle/>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Reallocate portfolios on exposure-weighted coverage; retire the bridge pool</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Stop/scale review: fund the top three plays, kill anything below 1.5x return</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Retention: stay interviews for the top quartile, career lattice and earn-back incentive live</a:t>
            </a:r>
            <a:endParaRPr lang="en-US" sz="860" dirty="0"/>
          </a:p>
          <a:p>
            <a:pPr marL="342900" indent="-342900">
              <a:lnSpc>
                <a:spcPct val="95000"/>
              </a:lnSpc>
              <a:spcAft>
                <a:spcPts val="500"/>
              </a:spcAft>
              <a:buSzPct val="100000"/>
              <a:buChar char="•"/>
            </a:pPr>
            <a:r>
              <a:rPr lang="en-US" sz="860" dirty="0">
                <a:solidFill>
                  <a:srgbClr val="C9CFD5"/>
                </a:solidFill>
                <a:latin typeface="Segoe UI" pitchFamily="34" charset="0"/>
                <a:ea typeface="Segoe UI" pitchFamily="34" charset="-122"/>
                <a:cs typeface="Segoe UI" pitchFamily="34" charset="-120"/>
              </a:rPr>
              <a:t>Forecast moves to evidence bands (commit / best / upside) at Director level</a:t>
            </a:r>
            <a:endParaRPr lang="en-US" sz="860" dirty="0"/>
          </a:p>
        </p:txBody>
      </p:sp>
      <p:sp>
        <p:nvSpPr>
          <p:cNvPr id="24" name="Text 22"/>
          <p:cNvSpPr txBox="1"/>
          <p:nvPr/>
        </p:nvSpPr>
        <p:spPr>
          <a:xfrm>
            <a:off x="502920" y="4059936"/>
            <a:ext cx="6766560" cy="237744"/>
          </a:xfrm>
          <a:prstGeom prst="rect">
            <a:avLst/>
          </a:prstGeom>
          <a:noFill/>
          <a:ln/>
        </p:spPr>
        <p:txBody>
          <a:bodyPr wrap="square" lIns="0" tIns="0" rIns="0" bIns="0" rtlCol="0" anchor="ctr"/>
          <a:lstStyle/>
          <a:p>
            <a:pPr indent="0" marL="0">
              <a:buNone/>
            </a:pPr>
            <a:r>
              <a:rPr lang="en-US" sz="950" b="1" spc="120" kern="0" dirty="0">
                <a:solidFill>
                  <a:srgbClr val="8A9299"/>
                </a:solidFill>
                <a:latin typeface="Segoe UI" pitchFamily="34" charset="0"/>
                <a:ea typeface="Segoe UI" pitchFamily="34" charset="-122"/>
                <a:cs typeface="Segoe UI" pitchFamily="34" charset="-120"/>
              </a:rPr>
              <a:t>Monthly build to target (AED M, incremental vs H1 run-rate)</a:t>
            </a:r>
            <a:endParaRPr lang="en-US" sz="950" dirty="0"/>
          </a:p>
        </p:txBody>
      </p:sp>
      <p:graphicFrame>
        <p:nvGraphicFramePr>
          <p:cNvPr id="25" name="Chart 0" descr=""/>
          <p:cNvGraphicFramePr/>
          <p:nvPr/>
        </p:nvGraphicFramePr>
        <p:xfrm>
          <a:off x="457200" y="4279392"/>
          <a:ext cx="6812280" cy="1975104"/>
        </p:xfrm>
        <a:graphic xmlns:a="http://schemas.openxmlformats.org/drawingml/2006/main">
          <a:graphicData uri="http://schemas.openxmlformats.org/drawingml/2006/chart">
            <c:chart xmlns:c="http://schemas.openxmlformats.org/drawingml/2006/chart" r:id="rId1"/>
          </a:graphicData>
        </a:graphic>
      </p:graphicFrame>
      <p:sp>
        <p:nvSpPr>
          <p:cNvPr id="26" name="Shape 23"/>
          <p:cNvSpPr/>
          <p:nvPr/>
        </p:nvSpPr>
        <p:spPr>
          <a:xfrm>
            <a:off x="7571232" y="4059936"/>
            <a:ext cx="4114800" cy="2194560"/>
          </a:xfrm>
          <a:prstGeom prst="rect">
            <a:avLst/>
          </a:prstGeom>
          <a:solidFill>
            <a:srgbClr val="22262B"/>
          </a:solidFill>
          <a:ln w="12700">
            <a:solidFill>
              <a:srgbClr val="C51230"/>
            </a:solidFill>
            <a:prstDash val="solid"/>
          </a:ln>
        </p:spPr>
      </p:sp>
      <p:sp>
        <p:nvSpPr>
          <p:cNvPr id="27" name="Text 24"/>
          <p:cNvSpPr txBox="1"/>
          <p:nvPr/>
        </p:nvSpPr>
        <p:spPr>
          <a:xfrm>
            <a:off x="7754112" y="4169664"/>
            <a:ext cx="3749040" cy="237744"/>
          </a:xfrm>
          <a:prstGeom prst="rect">
            <a:avLst/>
          </a:prstGeom>
          <a:noFill/>
          <a:ln/>
        </p:spPr>
        <p:txBody>
          <a:bodyPr wrap="square" lIns="0" tIns="0" rIns="0" bIns="0" rtlCol="0" anchor="ctr"/>
          <a:lstStyle/>
          <a:p>
            <a:pPr indent="0" marL="0">
              <a:buNone/>
            </a:pPr>
            <a:r>
              <a:rPr lang="en-US" sz="900" b="1" spc="180" kern="0" dirty="0">
                <a:solidFill>
                  <a:srgbClr val="C51230"/>
                </a:solidFill>
                <a:latin typeface="Segoe UI" pitchFamily="34" charset="0"/>
                <a:ea typeface="Segoe UI" pitchFamily="34" charset="-122"/>
                <a:cs typeface="Segoe UI" pitchFamily="34" charset="-120"/>
              </a:rPr>
              <a:t>DECISIONS REQUIRED</a:t>
            </a:r>
            <a:endParaRPr lang="en-US" sz="900" dirty="0"/>
          </a:p>
        </p:txBody>
      </p:sp>
      <p:sp>
        <p:nvSpPr>
          <p:cNvPr id="28" name="Text 25"/>
          <p:cNvSpPr txBox="1"/>
          <p:nvPr/>
        </p:nvSpPr>
        <p:spPr>
          <a:xfrm>
            <a:off x="7754112" y="4480560"/>
            <a:ext cx="274320" cy="274320"/>
          </a:xfrm>
          <a:prstGeom prst="rect">
            <a:avLst/>
          </a:prstGeom>
          <a:noFill/>
          <a:ln/>
        </p:spPr>
        <p:txBody>
          <a:bodyPr wrap="square" lIns="0" tIns="0" rIns="0" bIns="0" rtlCol="0" anchor="t"/>
          <a:lstStyle/>
          <a:p>
            <a:pPr indent="0" marL="0">
              <a:buNone/>
            </a:pPr>
            <a:r>
              <a:rPr lang="en-US" sz="1300" b="1" dirty="0">
                <a:solidFill>
                  <a:srgbClr val="C51230"/>
                </a:solidFill>
                <a:latin typeface="Segoe UI" pitchFamily="34" charset="0"/>
                <a:ea typeface="Segoe UI" pitchFamily="34" charset="-122"/>
                <a:cs typeface="Segoe UI" pitchFamily="34" charset="-120"/>
              </a:rPr>
              <a:t>1</a:t>
            </a:r>
            <a:endParaRPr lang="en-US" sz="1300" dirty="0"/>
          </a:p>
        </p:txBody>
      </p:sp>
      <p:sp>
        <p:nvSpPr>
          <p:cNvPr id="29" name="Text 26"/>
          <p:cNvSpPr txBox="1"/>
          <p:nvPr/>
        </p:nvSpPr>
        <p:spPr>
          <a:xfrm>
            <a:off x="8065008" y="4480560"/>
            <a:ext cx="3493008" cy="548640"/>
          </a:xfrm>
          <a:prstGeom prst="rect">
            <a:avLst/>
          </a:prstGeom>
          <a:noFill/>
          <a:ln/>
        </p:spPr>
        <p:txBody>
          <a:bodyPr wrap="square" lIns="0" tIns="0" rIns="0" bIns="0" rtlCol="0" anchor="t"/>
          <a:lstStyle/>
          <a:p>
            <a:pPr indent="0" marL="0">
              <a:lnSpc>
                <a:spcPct val="95000"/>
              </a:lnSpc>
              <a:buNone/>
            </a:pPr>
            <a:r>
              <a:rPr lang="en-US" sz="860" dirty="0">
                <a:solidFill>
                  <a:srgbClr val="C9CFD5"/>
                </a:solidFill>
                <a:latin typeface="Segoe UI" pitchFamily="34" charset="0"/>
                <a:ea typeface="Segoe UI" pitchFamily="34" charset="-122"/>
                <a:cs typeface="Segoe UI" pitchFamily="34" charset="-120"/>
              </a:rPr>
              <a:t>Release the 16 vacant KAM requisitions with a 35-day time-to-fill SLA and a standing 3-person bridge pool.</a:t>
            </a:r>
            <a:endParaRPr lang="en-US" sz="860" dirty="0"/>
          </a:p>
        </p:txBody>
      </p:sp>
      <p:sp>
        <p:nvSpPr>
          <p:cNvPr id="30" name="Text 27"/>
          <p:cNvSpPr txBox="1"/>
          <p:nvPr/>
        </p:nvSpPr>
        <p:spPr>
          <a:xfrm>
            <a:off x="7754112" y="5065776"/>
            <a:ext cx="274320" cy="274320"/>
          </a:xfrm>
          <a:prstGeom prst="rect">
            <a:avLst/>
          </a:prstGeom>
          <a:noFill/>
          <a:ln/>
        </p:spPr>
        <p:txBody>
          <a:bodyPr wrap="square" lIns="0" tIns="0" rIns="0" bIns="0" rtlCol="0" anchor="t"/>
          <a:lstStyle/>
          <a:p>
            <a:pPr indent="0" marL="0">
              <a:buNone/>
            </a:pPr>
            <a:r>
              <a:rPr lang="en-US" sz="1300" b="1" dirty="0">
                <a:solidFill>
                  <a:srgbClr val="C51230"/>
                </a:solidFill>
                <a:latin typeface="Segoe UI" pitchFamily="34" charset="0"/>
                <a:ea typeface="Segoe UI" pitchFamily="34" charset="-122"/>
                <a:cs typeface="Segoe UI" pitchFamily="34" charset="-120"/>
              </a:rPr>
              <a:t>2</a:t>
            </a:r>
            <a:endParaRPr lang="en-US" sz="1300" dirty="0"/>
          </a:p>
        </p:txBody>
      </p:sp>
      <p:sp>
        <p:nvSpPr>
          <p:cNvPr id="31" name="Text 28"/>
          <p:cNvSpPr txBox="1"/>
          <p:nvPr/>
        </p:nvSpPr>
        <p:spPr>
          <a:xfrm>
            <a:off x="8065008" y="5065776"/>
            <a:ext cx="3493008" cy="548640"/>
          </a:xfrm>
          <a:prstGeom prst="rect">
            <a:avLst/>
          </a:prstGeom>
          <a:noFill/>
          <a:ln/>
        </p:spPr>
        <p:txBody>
          <a:bodyPr wrap="square" lIns="0" tIns="0" rIns="0" bIns="0" rtlCol="0" anchor="t"/>
          <a:lstStyle/>
          <a:p>
            <a:pPr indent="0" marL="0">
              <a:lnSpc>
                <a:spcPct val="95000"/>
              </a:lnSpc>
              <a:buNone/>
            </a:pPr>
            <a:r>
              <a:rPr lang="en-US" sz="860" dirty="0">
                <a:solidFill>
                  <a:srgbClr val="C9CFD5"/>
                </a:solidFill>
                <a:latin typeface="Segoe UI" pitchFamily="34" charset="0"/>
                <a:ea typeface="Segoe UI" pitchFamily="34" charset="-122"/>
                <a:cs typeface="Segoe UI" pitchFamily="34" charset="-120"/>
              </a:rPr>
              <a:t>Approve AED 6.5M of enabling spend against AED 22.0M of benefit — 2.4x net return, payback in month 4.</a:t>
            </a:r>
            <a:endParaRPr lang="en-US" sz="860" dirty="0"/>
          </a:p>
        </p:txBody>
      </p:sp>
      <p:sp>
        <p:nvSpPr>
          <p:cNvPr id="32" name="Text 29"/>
          <p:cNvSpPr txBox="1"/>
          <p:nvPr/>
        </p:nvSpPr>
        <p:spPr>
          <a:xfrm>
            <a:off x="7754112" y="5650992"/>
            <a:ext cx="274320" cy="274320"/>
          </a:xfrm>
          <a:prstGeom prst="rect">
            <a:avLst/>
          </a:prstGeom>
          <a:noFill/>
          <a:ln/>
        </p:spPr>
        <p:txBody>
          <a:bodyPr wrap="square" lIns="0" tIns="0" rIns="0" bIns="0" rtlCol="0" anchor="t"/>
          <a:lstStyle/>
          <a:p>
            <a:pPr indent="0" marL="0">
              <a:buNone/>
            </a:pPr>
            <a:r>
              <a:rPr lang="en-US" sz="1300" b="1" dirty="0">
                <a:solidFill>
                  <a:srgbClr val="C51230"/>
                </a:solidFill>
                <a:latin typeface="Segoe UI" pitchFamily="34" charset="0"/>
                <a:ea typeface="Segoe UI" pitchFamily="34" charset="-122"/>
                <a:cs typeface="Segoe UI" pitchFamily="34" charset="-120"/>
              </a:rPr>
              <a:t>3</a:t>
            </a:r>
            <a:endParaRPr lang="en-US" sz="1300" dirty="0"/>
          </a:p>
        </p:txBody>
      </p:sp>
      <p:sp>
        <p:nvSpPr>
          <p:cNvPr id="33" name="Text 30"/>
          <p:cNvSpPr txBox="1"/>
          <p:nvPr/>
        </p:nvSpPr>
        <p:spPr>
          <a:xfrm>
            <a:off x="8065008" y="5650992"/>
            <a:ext cx="3493008" cy="548640"/>
          </a:xfrm>
          <a:prstGeom prst="rect">
            <a:avLst/>
          </a:prstGeom>
          <a:noFill/>
          <a:ln/>
        </p:spPr>
        <p:txBody>
          <a:bodyPr wrap="square" lIns="0" tIns="0" rIns="0" bIns="0" rtlCol="0" anchor="t"/>
          <a:lstStyle/>
          <a:p>
            <a:pPr indent="0" marL="0">
              <a:lnSpc>
                <a:spcPct val="95000"/>
              </a:lnSpc>
              <a:buNone/>
            </a:pPr>
            <a:r>
              <a:rPr lang="en-US" sz="860" dirty="0">
                <a:solidFill>
                  <a:srgbClr val="C9CFD5"/>
                </a:solidFill>
                <a:latin typeface="Segoe UI" pitchFamily="34" charset="0"/>
                <a:ea typeface="Segoe UI" pitchFamily="34" charset="-122"/>
                <a:cs typeface="Segoe UI" pitchFamily="34" charset="-120"/>
              </a:rPr>
              <a:t>Sign off the protection methodology with Finance so retained ARR is recognised on evidence, not on claim.</a:t>
            </a:r>
            <a:endParaRPr lang="en-US" sz="86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Slides>
  <Notes>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vt:i4>
      </vt:variant>
    </vt:vector>
  </HeadingPairs>
  <TitlesOfParts>
    <vt:vector size="7" baseType="lpstr">
      <vt:lpstr>Arial</vt:lpstr>
      <vt:lpstr>Calibri</vt:lpstr>
      <vt:lpstr>Office Theme</vt:lpstr>
      <vt:lpstr>Slide 1</vt:lpstr>
      <vt:lpstr>Slide 2</vt:lpstr>
      <vt:lpstr>Slide 3</vt:lpstr>
      <vt:lpstr>Slide 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Prime H2 2026 ROI Plan</dc:title>
  <dc:subject>PptxGenJS Presentation</dc:subject>
  <dc:creator>Prime - SMB, e&amp; UAE</dc:creator>
  <cp:lastModifiedBy>Prime - SMB, e&amp; UAE</cp:lastModifiedBy>
  <cp:revision>1</cp:revision>
  <dcterms:created xsi:type="dcterms:W3CDTF">2026-08-26T11:37:00Z</dcterms:created>
  <dcterms:modified xsi:type="dcterms:W3CDTF">2026-08-26T11:37:00Z</dcterms:modified>
</cp:coreProperties>
</file>